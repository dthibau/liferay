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slideLayouts/slideLayout22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_rels/slide60.xml.rels" ContentType="application/vnd.openxmlformats-package.relationships+xml"/>
  <Override PartName="/ppt/slides/_rels/slide14.xml.rels" ContentType="application/vnd.openxmlformats-package.relationships+xml"/>
  <Override PartName="/ppt/slides/_rels/slide82.xml.rels" ContentType="application/vnd.openxmlformats-package.relationships+xml"/>
  <Override PartName="/ppt/slides/_rels/slide12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83.xml.rels" ContentType="application/vnd.openxmlformats-package.relationships+xml"/>
  <Override PartName="/ppt/slides/_rels/slide46.xml.rels" ContentType="application/vnd.openxmlformats-package.relationships+xml"/>
  <Override PartName="/ppt/slides/_rels/slide13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84.xml.rels" ContentType="application/vnd.openxmlformats-package.relationships+xml"/>
  <Override PartName="/ppt/slides/_rels/slide10.xml.rels" ContentType="application/vnd.openxmlformats-package.relationships+xml"/>
  <Override PartName="/ppt/slides/_rels/slide47.xml.rels" ContentType="application/vnd.openxmlformats-package.relationships+xml"/>
  <Override PartName="/ppt/slides/_rels/slide160.xml.rels" ContentType="application/vnd.openxmlformats-package.relationships+xml"/>
  <Override PartName="/ppt/slides/_rels/slide9.xml.rels" ContentType="application/vnd.openxmlformats-package.relationships+xml"/>
  <Override PartName="/ppt/slides/_rels/slide96.xml.rels" ContentType="application/vnd.openxmlformats-package.relationships+xml"/>
  <Override PartName="/ppt/slides/_rels/slide28.xml.rels" ContentType="application/vnd.openxmlformats-package.relationships+xml"/>
  <Override PartName="/ppt/slides/_rels/slide141.xml.rels" ContentType="application/vnd.openxmlformats-package.relationships+xml"/>
  <Override PartName="/ppt/slides/_rels/slide3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161.xml.rels" ContentType="application/vnd.openxmlformats-package.relationships+xml"/>
  <Override PartName="/ppt/slides/_rels/slide20.xml.rels" ContentType="application/vnd.openxmlformats-package.relationships+xml"/>
  <Override PartName="/ppt/slides/_rels/slide93.xml.rels" ContentType="application/vnd.openxmlformats-package.relationships+xml"/>
  <Override PartName="/ppt/slides/_rels/slide25.xml.rels" ContentType="application/vnd.openxmlformats-package.relationships+xml"/>
  <Override PartName="/ppt/slides/_rels/slide171.xml.rels" ContentType="application/vnd.openxmlformats-package.relationships+xml"/>
  <Override PartName="/ppt/slides/_rels/slide103.xml.rels" ContentType="application/vnd.openxmlformats-package.relationships+xml"/>
  <Override PartName="/ppt/slides/_rels/slide58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144.xml.rels" ContentType="application/vnd.openxmlformats-package.relationships+xml"/>
  <Override PartName="/ppt/slides/_rels/slide97.xml.rels" ContentType="application/vnd.openxmlformats-package.relationships+xml"/>
  <Override PartName="/ppt/slides/_rels/slide29.xml.rels" ContentType="application/vnd.openxmlformats-package.relationships+xml"/>
  <Override PartName="/ppt/slides/_rels/slide142.xml.rels" ContentType="application/vnd.openxmlformats-package.relationships+xml"/>
  <Override PartName="/ppt/slides/_rels/slide4.xml.rels" ContentType="application/vnd.openxmlformats-package.relationships+xml"/>
  <Override PartName="/ppt/slides/_rels/slide49.xml.rels" ContentType="application/vnd.openxmlformats-package.relationships+xml"/>
  <Override PartName="/ppt/slides/_rels/slide162.xml.rels" ContentType="application/vnd.openxmlformats-package.relationships+xml"/>
  <Override PartName="/ppt/slides/_rels/slide21.xml.rels" ContentType="application/vnd.openxmlformats-package.relationships+xml"/>
  <Override PartName="/ppt/slides/_rels/slide26.xml.rels" ContentType="application/vnd.openxmlformats-package.relationships+xml"/>
  <Override PartName="/ppt/slides/_rels/slide94.xml.rels" ContentType="application/vnd.openxmlformats-package.relationships+xml"/>
  <Override PartName="/ppt/slides/_rels/slide91.xml.rels" ContentType="application/vnd.openxmlformats-package.relationships+xml"/>
  <Override PartName="/ppt/slides/_rels/slide23.xml.rels" ContentType="application/vnd.openxmlformats-package.relationships+xml"/>
  <Override PartName="/ppt/slides/_rels/slide104.xml.rels" ContentType="application/vnd.openxmlformats-package.relationships+xml"/>
  <Override PartName="/ppt/slides/_rels/slide172.xml.rels" ContentType="application/vnd.openxmlformats-package.relationships+xml"/>
  <Override PartName="/ppt/slides/_rels/slide59.xml.rels" ContentType="application/vnd.openxmlformats-package.relationships+xml"/>
  <Override PartName="/ppt/slides/_rels/slide1.xml.rels" ContentType="application/vnd.openxmlformats-package.relationships+xml"/>
  <Override PartName="/ppt/slides/_rels/slide129.xml.rels" ContentType="application/vnd.openxmlformats-package.relationships+xml"/>
  <Override PartName="/ppt/slides/_rels/slide98.xml.rels" ContentType="application/vnd.openxmlformats-package.relationships+xml"/>
  <Override PartName="/ppt/slides/_rels/slide143.xml.rels" ContentType="application/vnd.openxmlformats-package.relationships+xml"/>
  <Override PartName="/ppt/slides/_rels/slide5.xml.rels" ContentType="application/vnd.openxmlformats-package.relationships+xml"/>
  <Override PartName="/ppt/slides/_rels/slide90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173.xml.rels" ContentType="application/vnd.openxmlformats-package.relationships+xml"/>
  <Override PartName="/ppt/slides/_rels/slide105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150.xml.rels" ContentType="application/vnd.openxmlformats-package.relationships+xml"/>
  <Override PartName="/ppt/slides/_rels/slide38.xml.rels" ContentType="application/vnd.openxmlformats-package.relationships+xml"/>
  <Override PartName="/ppt/slides/_rels/slide151.xml.rels" ContentType="application/vnd.openxmlformats-package.relationships+xml"/>
  <Override PartName="/ppt/slides/_rels/slide39.xml.rels" ContentType="application/vnd.openxmlformats-package.relationships+xml"/>
  <Override PartName="/ppt/slides/_rels/slide152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110.xml.rels" ContentType="application/vnd.openxmlformats-package.relationships+xml"/>
  <Override PartName="/ppt/slides/_rels/slide65.xml.rels" ContentType="application/vnd.openxmlformats-package.relationships+xml"/>
  <Override PartName="/ppt/slides/_rels/slide115.xml.rels" ContentType="application/vnd.openxmlformats-package.relationships+xml"/>
  <Override PartName="/ppt/slides/_rels/slide183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42.xml.rels" ContentType="application/vnd.openxmlformats-package.relationships+xml"/>
  <Override PartName="/ppt/slides/_rels/slide120.xml.rels" ContentType="application/vnd.openxmlformats-package.relationships+xml"/>
  <Override PartName="/ppt/slides/_rels/slide75.xml.rels" ContentType="application/vnd.openxmlformats-package.relationships+xml"/>
  <Override PartName="/ppt/slides/_rels/slide153.xml.rels" ContentType="application/vnd.openxmlformats-package.relationships+xml"/>
  <Override PartName="/ppt/slides/_rels/slide145.xml.rels" ContentType="application/vnd.openxmlformats-package.relationships+xml"/>
  <Override PartName="/ppt/slides/_rels/slide43.xml.rels" ContentType="application/vnd.openxmlformats-package.relationships+xml"/>
  <Override PartName="/ppt/slides/_rels/slide121.xml.rels" ContentType="application/vnd.openxmlformats-package.relationships+xml"/>
  <Override PartName="/ppt/slides/_rels/slide76.xml.rels" ContentType="application/vnd.openxmlformats-package.relationships+xml"/>
  <Override PartName="/ppt/slides/_rels/slide154.xml.rels" ContentType="application/vnd.openxmlformats-package.relationships+xml"/>
  <Override PartName="/ppt/slides/_rels/slide66.xml.rels" ContentType="application/vnd.openxmlformats-package.relationships+xml"/>
  <Override PartName="/ppt/slides/_rels/slide111.xml.rels" ContentType="application/vnd.openxmlformats-package.relationships+xml"/>
  <Override PartName="/ppt/slides/_rels/slide146.xml.rels" ContentType="application/vnd.openxmlformats-package.relationships+xml"/>
  <Override PartName="/ppt/slides/_rels/slide44.xml.rels" ContentType="application/vnd.openxmlformats-package.relationships+xml"/>
  <Override PartName="/ppt/slides/_rels/slide116.xml.rels" ContentType="application/vnd.openxmlformats-package.relationships+xml"/>
  <Override PartName="/ppt/slides/_rels/slide184.xml.rels" ContentType="application/vnd.openxmlformats-package.relationships+xml"/>
  <Override PartName="/ppt/slides/_rels/slide180.xml.rels" ContentType="application/vnd.openxmlformats-package.relationships+xml"/>
  <Override PartName="/ppt/slides/_rels/slide67.xml.rels" ContentType="application/vnd.openxmlformats-package.relationships+xml"/>
  <Override PartName="/ppt/slides/_rels/slide112.xml.rels" ContentType="application/vnd.openxmlformats-package.relationships+xml"/>
  <Override PartName="/ppt/slides/_rels/slide181.xml.rels" ContentType="application/vnd.openxmlformats-package.relationships+xml"/>
  <Override PartName="/ppt/slides/_rels/slide68.xml.rels" ContentType="application/vnd.openxmlformats-package.relationships+xml"/>
  <Override PartName="/ppt/slides/_rels/slide113.xml.rels" ContentType="application/vnd.openxmlformats-package.relationships+xml"/>
  <Override PartName="/ppt/slides/_rels/slide70.xml.rels" ContentType="application/vnd.openxmlformats-package.relationships+xml"/>
  <Override PartName="/ppt/slides/_rels/slide125.xml.rels" ContentType="application/vnd.openxmlformats-package.relationships+xml"/>
  <Override PartName="/ppt/slides/_rels/slide193.xml.rels" ContentType="application/vnd.openxmlformats-package.relationships+xml"/>
  <Override PartName="/ppt/slides/_rels/slide126.xml.rels" ContentType="application/vnd.openxmlformats-package.relationships+xml"/>
  <Override PartName="/ppt/slides/_rels/slide194.xml.rels" ContentType="application/vnd.openxmlformats-package.relationships+xml"/>
  <Override PartName="/ppt/slides/_rels/slide127.xml.rels" ContentType="application/vnd.openxmlformats-package.relationships+xml"/>
  <Override PartName="/ppt/slides/_rels/slide195.xml.rels" ContentType="application/vnd.openxmlformats-package.relationships+xml"/>
  <Override PartName="/ppt/slides/_rels/slide182.xml.rels" ContentType="application/vnd.openxmlformats-package.relationships+xml"/>
  <Override PartName="/ppt/slides/_rels/slide114.xml.rels" ContentType="application/vnd.openxmlformats-package.relationships+xml"/>
  <Override PartName="/ppt/slides/_rels/slide69.xml.rels" ContentType="application/vnd.openxmlformats-package.relationships+xml"/>
  <Override PartName="/ppt/slides/_rels/slide147.xml.rels" ContentType="application/vnd.openxmlformats-package.relationships+xml"/>
  <Override PartName="/ppt/slides/_rels/slide45.xml.rels" ContentType="application/vnd.openxmlformats-package.relationships+xml"/>
  <Override PartName="/ppt/slides/_rels/slide109.xml.rels" ContentType="application/vnd.openxmlformats-package.relationships+xml"/>
  <Override PartName="/ppt/slides/_rels/slide177.xml.rels" ContentType="application/vnd.openxmlformats-package.relationships+xml"/>
  <Override PartName="/ppt/slides/_rels/slide191.xml.rels" ContentType="application/vnd.openxmlformats-package.relationships+xml"/>
  <Override PartName="/ppt/slides/_rels/slide123.xml.rels" ContentType="application/vnd.openxmlformats-package.relationships+xml"/>
  <Override PartName="/ppt/slides/_rels/slide78.xml.rels" ContentType="application/vnd.openxmlformats-package.relationships+xml"/>
  <Override PartName="/ppt/slides/_rels/slide156.xml.rels" ContentType="application/vnd.openxmlformats-package.relationships+xml"/>
  <Override PartName="/ppt/slides/_rels/slide119.xml.rels" ContentType="application/vnd.openxmlformats-package.relationships+xml"/>
  <Override PartName="/ppt/slides/_rels/slide187.xml.rels" ContentType="application/vnd.openxmlformats-package.relationships+xml"/>
  <Override PartName="/ppt/slides/_rels/slide108.xml.rels" ContentType="application/vnd.openxmlformats-package.relationships+xml"/>
  <Override PartName="/ppt/slides/_rels/slide176.xml.rels" ContentType="application/vnd.openxmlformats-package.relationships+xml"/>
  <Override PartName="/ppt/slides/_rels/slide190.xml.rels" ContentType="application/vnd.openxmlformats-package.relationships+xml"/>
  <Override PartName="/ppt/slides/_rels/slide122.xml.rels" ContentType="application/vnd.openxmlformats-package.relationships+xml"/>
  <Override PartName="/ppt/slides/_rels/slide77.xml.rels" ContentType="application/vnd.openxmlformats-package.relationships+xml"/>
  <Override PartName="/ppt/slides/_rels/slide155.xml.rels" ContentType="application/vnd.openxmlformats-package.relationships+xml"/>
  <Override PartName="/ppt/slides/_rels/slide118.xml.rels" ContentType="application/vnd.openxmlformats-package.relationships+xml"/>
  <Override PartName="/ppt/slides/_rels/slide186.xml.rels" ContentType="application/vnd.openxmlformats-package.relationships+xml"/>
  <Override PartName="/ppt/slides/_rels/slide107.xml.rels" ContentType="application/vnd.openxmlformats-package.relationships+xml"/>
  <Override PartName="/ppt/slides/_rels/slide175.xml.rels" ContentType="application/vnd.openxmlformats-package.relationships+xml"/>
  <Override PartName="/ppt/slides/_rels/slide117.xml.rels" ContentType="application/vnd.openxmlformats-package.relationships+xml"/>
  <Override PartName="/ppt/slides/_rels/slide185.xml.rels" ContentType="application/vnd.openxmlformats-package.relationships+xml"/>
  <Override PartName="/ppt/slides/_rels/slide174.xml.rels" ContentType="application/vnd.openxmlformats-package.relationships+xml"/>
  <Override PartName="/ppt/slides/_rels/slide106.xml.rels" ContentType="application/vnd.openxmlformats-package.relationships+xml"/>
  <Override PartName="/ppt/slides/_rels/slide157.xml.rels" ContentType="application/vnd.openxmlformats-package.relationships+xml"/>
  <Override PartName="/ppt/slides/_rels/slide192.xml.rels" ContentType="application/vnd.openxmlformats-package.relationships+xml"/>
  <Override PartName="/ppt/slides/_rels/slide79.xml.rels" ContentType="application/vnd.openxmlformats-package.relationships+xml"/>
  <Override PartName="/ppt/slides/_rels/slide124.xml.rels" ContentType="application/vnd.openxmlformats-package.relationships+xml"/>
  <Override PartName="/ppt/slides/_rels/slide128.xml.rels" ContentType="application/vnd.openxmlformats-package.relationships+xml"/>
  <Override PartName="/ppt/slides/_rels/slide196.xml.rels" ContentType="application/vnd.openxmlformats-package.relationships+xml"/>
  <Override PartName="/ppt/slides/_rels/slide166.xml.rels" ContentType="application/vnd.openxmlformats-package.relationships+xml"/>
  <Override PartName="/ppt/slides/_rels/slide88.xml.rels" ContentType="application/vnd.openxmlformats-package.relationships+xml"/>
  <Override PartName="/ppt/slides/_rels/slide133.xml.rels" ContentType="application/vnd.openxmlformats-package.relationships+xml"/>
  <Override PartName="/ppt/slides/_rels/slide167.xml.rels" ContentType="application/vnd.openxmlformats-package.relationships+xml"/>
  <Override PartName="/ppt/slides/_rels/slide89.xml.rels" ContentType="application/vnd.openxmlformats-package.relationships+xml"/>
  <Override PartName="/ppt/slides/_rels/slide134.xml.rels" ContentType="application/vnd.openxmlformats-package.relationships+xml"/>
  <Override PartName="/ppt/slides/_rels/slide135.xml.rels" ContentType="application/vnd.openxmlformats-package.relationships+xml"/>
  <Override PartName="/ppt/slides/_rels/slide136.xml.rels" ContentType="application/vnd.openxmlformats-package.relationships+xml"/>
  <Override PartName="/ppt/slides/_rels/slide55.xml.rels" ContentType="application/vnd.openxmlformats-package.relationships+xml"/>
  <Override PartName="/ppt/slides/_rels/slide100.xml.rels" ContentType="application/vnd.openxmlformats-package.relationships+xml"/>
  <Override PartName="/ppt/slides/_rels/slide137.xml.rels" ContentType="application/vnd.openxmlformats-package.relationships+xml"/>
  <Override PartName="/ppt/slides/_rels/slide56.xml.rels" ContentType="application/vnd.openxmlformats-package.relationships+xml"/>
  <Override PartName="/ppt/slides/_rels/slide101.xml.rels" ContentType="application/vnd.openxmlformats-package.relationships+xml"/>
  <Override PartName="/ppt/slides/_rels/slide138.xml.rels" ContentType="application/vnd.openxmlformats-package.relationships+xml"/>
  <Override PartName="/ppt/slides/_rels/slide140.xml.rels" ContentType="application/vnd.openxmlformats-package.relationships+xml"/>
  <Override PartName="/ppt/slides/_rels/slide95.xml.rels" ContentType="application/vnd.openxmlformats-package.relationships+xml"/>
  <Override PartName="/ppt/slides/_rels/slide27.xml.rels" ContentType="application/vnd.openxmlformats-package.relationships+xml"/>
  <Override PartName="/ppt/slides/_rels/slide57.xml.rels" ContentType="application/vnd.openxmlformats-package.relationships+xml"/>
  <Override PartName="/ppt/slides/_rels/slide170.xml.rels" ContentType="application/vnd.openxmlformats-package.relationships+xml"/>
  <Override PartName="/ppt/slides/_rels/slide102.xml.rels" ContentType="application/vnd.openxmlformats-package.relationships+xml"/>
  <Override PartName="/ppt/slides/_rels/slide92.xml.rels" ContentType="application/vnd.openxmlformats-package.relationships+xml"/>
  <Override PartName="/ppt/slides/_rels/slide24.xml.rels" ContentType="application/vnd.openxmlformats-package.relationships+xml"/>
  <Override PartName="/ppt/slides/_rels/slide139.xml.rels" ContentType="application/vnd.openxmlformats-package.relationships+xml"/>
  <Override PartName="/ppt/slides/_rels/slide52.xml.rels" ContentType="application/vnd.openxmlformats-package.relationships+xml"/>
  <Override PartName="/ppt/slides/_rels/slide163.xml.rels" ContentType="application/vnd.openxmlformats-package.relationships+xml"/>
  <Override PartName="/ppt/slides/_rels/slide130.xml.rels" ContentType="application/vnd.openxmlformats-package.relationships+xml"/>
  <Override PartName="/ppt/slides/_rels/slide85.xml.rels" ContentType="application/vnd.openxmlformats-package.relationships+xml"/>
  <Override PartName="/ppt/slides/_rels/slide17.xml.rels" ContentType="application/vnd.openxmlformats-package.relationships+xml"/>
  <Override PartName="/ppt/slides/_rels/slide53.xml.rels" ContentType="application/vnd.openxmlformats-package.relationships+xml"/>
  <Override PartName="/ppt/slides/_rels/slide164.xml.rels" ContentType="application/vnd.openxmlformats-package.relationships+xml"/>
  <Override PartName="/ppt/slides/_rels/slide131.xml.rels" ContentType="application/vnd.openxmlformats-package.relationships+xml"/>
  <Override PartName="/ppt/slides/_rels/slide86.xml.rels" ContentType="application/vnd.openxmlformats-package.relationships+xml"/>
  <Override PartName="/ppt/slides/_rels/slide18.xml.rels" ContentType="application/vnd.openxmlformats-package.relationships+xml"/>
  <Override PartName="/ppt/slides/_rels/slide159.xml.rels" ContentType="application/vnd.openxmlformats-package.relationships+xml"/>
  <Override PartName="/ppt/slides/_rels/slide168.xml.rels" ContentType="application/vnd.openxmlformats-package.relationships+xml"/>
  <Override PartName="/ppt/slides/_rels/slide165.xml.rels" ContentType="application/vnd.openxmlformats-package.relationships+xml"/>
  <Override PartName="/ppt/slides/_rels/slide87.xml.rels" ContentType="application/vnd.openxmlformats-package.relationships+xml"/>
  <Override PartName="/ppt/slides/_rels/slide19.xml.rels" ContentType="application/vnd.openxmlformats-package.relationships+xml"/>
  <Override PartName="/ppt/slides/_rels/slide132.xml.rels" ContentType="application/vnd.openxmlformats-package.relationships+xml"/>
  <Override PartName="/ppt/slides/_rels/slide54.xml.rels" ContentType="application/vnd.openxmlformats-package.relationships+xml"/>
  <Override PartName="/ppt/slides/_rels/slide169.xml.rels" ContentType="application/vnd.openxmlformats-package.relationships+xml"/>
  <Override PartName="/ppt/slides/_rels/slide50.xml.rels" ContentType="application/vnd.openxmlformats-package.relationships+xml"/>
  <Override PartName="/ppt/slides/_rels/slide178.xml.rels" ContentType="application/vnd.openxmlformats-package.relationships+xml"/>
  <Override PartName="/ppt/slides/_rels/slide7.xml.rels" ContentType="application/vnd.openxmlformats-package.relationships+xml"/>
  <Override PartName="/ppt/slides/_rels/slide51.xml.rels" ContentType="application/vnd.openxmlformats-package.relationships+xml"/>
  <Override PartName="/ppt/slides/_rels/slide179.xml.rels" ContentType="application/vnd.openxmlformats-package.relationships+xml"/>
  <Override PartName="/ppt/slides/_rels/slide8.xml.rels" ContentType="application/vnd.openxmlformats-package.relationships+xml"/>
  <Override PartName="/ppt/slides/_rels/slide158.xml.rels" ContentType="application/vnd.openxmlformats-package.relationships+xml"/>
  <Override PartName="/ppt/slides/_rels/slide189.xml.rels" ContentType="application/vnd.openxmlformats-package.relationships+xml"/>
  <Override PartName="/ppt/slides/_rels/slide188.xml.rels" ContentType="application/vnd.openxmlformats-package.relationships+xml"/>
  <Override PartName="/ppt/slides/_rels/slide149.xml.rels" ContentType="application/vnd.openxmlformats-package.relationships+xml"/>
  <Override PartName="/ppt/slides/_rels/slide148.xml.rels" ContentType="application/vnd.openxmlformats-package.relationships+xml"/>
  <Override PartName="/ppt/slides/_rels/slide41.xml.rels" ContentType="application/vnd.openxmlformats-package.relationships+xml"/>
  <Override PartName="/ppt/slides/_rels/slide40.xml.rels" ContentType="application/vnd.openxmlformats-package.relationships+xml"/>
  <Override PartName="/ppt/slides/slide127.xml" ContentType="application/vnd.openxmlformats-officedocument.presentationml.slide+xml"/>
  <Override PartName="/ppt/slides/slide195.xml" ContentType="application/vnd.openxmlformats-officedocument.presentationml.slide+xml"/>
  <Override PartName="/ppt/slides/slide126.xml" ContentType="application/vnd.openxmlformats-officedocument.presentationml.slide+xml"/>
  <Override PartName="/ppt/slides/slide194.xml" ContentType="application/vnd.openxmlformats-officedocument.presentationml.slide+xml"/>
  <Override PartName="/ppt/slides/slide119.xml" ContentType="application/vnd.openxmlformats-officedocument.presentationml.slide+xml"/>
  <Override PartName="/ppt/slides/slide187.xml" ContentType="application/vnd.openxmlformats-officedocument.presentationml.slide+xml"/>
  <Override PartName="/ppt/slides/slide118.xml" ContentType="application/vnd.openxmlformats-officedocument.presentationml.slide+xml"/>
  <Override PartName="/ppt/slides/slide186.xml" ContentType="application/vnd.openxmlformats-officedocument.presentationml.slide+xml"/>
  <Override PartName="/ppt/slides/slide117.xml" ContentType="application/vnd.openxmlformats-officedocument.presentationml.slide+xml"/>
  <Override PartName="/ppt/slides/slide185.xml" ContentType="application/vnd.openxmlformats-officedocument.presentationml.slide+xml"/>
  <Override PartName="/ppt/slides/slide116.xml" ContentType="application/vnd.openxmlformats-officedocument.presentationml.slide+xml"/>
  <Override PartName="/ppt/slides/slide184.xml" ContentType="application/vnd.openxmlformats-officedocument.presentationml.slide+xml"/>
  <Override PartName="/ppt/slides/slide109.xml" ContentType="application/vnd.openxmlformats-officedocument.presentationml.slide+xml"/>
  <Override PartName="/ppt/slides/slide177.xml" ContentType="application/vnd.openxmlformats-officedocument.presentationml.slide+xml"/>
  <Override PartName="/ppt/slides/slide108.xml" ContentType="application/vnd.openxmlformats-officedocument.presentationml.slide+xml"/>
  <Override PartName="/ppt/slides/slide176.xml" ContentType="application/vnd.openxmlformats-officedocument.presentationml.slide+xml"/>
  <Override PartName="/ppt/slides/slide107.xml" ContentType="application/vnd.openxmlformats-officedocument.presentationml.slide+xml"/>
  <Override PartName="/ppt/slides/slide175.xml" ContentType="application/vnd.openxmlformats-officedocument.presentationml.slide+xml"/>
  <Override PartName="/ppt/slides/slide106.xml" ContentType="application/vnd.openxmlformats-officedocument.presentationml.slide+xml"/>
  <Override PartName="/ppt/slides/slide174.xml" ContentType="application/vnd.openxmlformats-officedocument.presentationml.slide+xml"/>
  <Override PartName="/ppt/slides/slide95.xml" ContentType="application/vnd.openxmlformats-officedocument.presentationml.slide+xml"/>
  <Override PartName="/ppt/slides/slide27.xml" ContentType="application/vnd.openxmlformats-officedocument.presentationml.slide+xml"/>
  <Override PartName="/ppt/slides/slide89.xml" ContentType="application/vnd.openxmlformats-officedocument.presentationml.slide+xml"/>
  <Override PartName="/ppt/slides/slide88.xml" ContentType="application/vnd.openxmlformats-officedocument.presentationml.slide+xml"/>
  <Override PartName="/ppt/slides/slide87.xml" ContentType="application/vnd.openxmlformats-officedocument.presentationml.slide+xml"/>
  <Override PartName="/ppt/slides/slide19.xml" ContentType="application/vnd.openxmlformats-officedocument.presentationml.slide+xml"/>
  <Override PartName="/ppt/slides/slide86.xml" ContentType="application/vnd.openxmlformats-officedocument.presentationml.slide+xml"/>
  <Override PartName="/ppt/slides/slide18.xml" ContentType="application/vnd.openxmlformats-officedocument.presentationml.slide+xml"/>
  <Override PartName="/ppt/slides/slide85.xml" ContentType="application/vnd.openxmlformats-officedocument.presentationml.slide+xml"/>
  <Override PartName="/ppt/slides/slide17.xml" ContentType="application/vnd.openxmlformats-officedocument.presentationml.slide+xml"/>
  <Override PartName="/ppt/slides/slide125.xml" ContentType="application/vnd.openxmlformats-officedocument.presentationml.slide+xml"/>
  <Override PartName="/ppt/slides/slide193.xml" ContentType="application/vnd.openxmlformats-officedocument.presentationml.slide+xml"/>
  <Override PartName="/ppt/slides/slide79.xml" ContentType="application/vnd.openxmlformats-officedocument.presentationml.slide+xml"/>
  <Override PartName="/ppt/slides/slide124.xml" ContentType="application/vnd.openxmlformats-officedocument.presentationml.slide+xml"/>
  <Override PartName="/ppt/slides/slide192.xml" ContentType="application/vnd.openxmlformats-officedocument.presentationml.slide+xml"/>
  <Override PartName="/ppt/slides/slide78.xml" ContentType="application/vnd.openxmlformats-officedocument.presentationml.slide+xml"/>
  <Override PartName="/ppt/slides/slide123.xml" ContentType="application/vnd.openxmlformats-officedocument.presentationml.slide+xml"/>
  <Override PartName="/ppt/slides/slide191.xml" ContentType="application/vnd.openxmlformats-officedocument.presentationml.slide+xml"/>
  <Override PartName="/ppt/slides/slide77.xml" ContentType="application/vnd.openxmlformats-officedocument.presentationml.slide+xml"/>
  <Override PartName="/ppt/slides/slide122.xml" ContentType="application/vnd.openxmlformats-officedocument.presentationml.slide+xml"/>
  <Override PartName="/ppt/slides/slide190.xml" ContentType="application/vnd.openxmlformats-officedocument.presentationml.slide+xml"/>
  <Override PartName="/ppt/slides/slide76.xml" ContentType="application/vnd.openxmlformats-officedocument.presentationml.slide+xml"/>
  <Override PartName="/ppt/slides/slide121.xml" ContentType="application/vnd.openxmlformats-officedocument.presentationml.slide+xml"/>
  <Override PartName="/ppt/slides/slide75.xml" ContentType="application/vnd.openxmlformats-officedocument.presentationml.slide+xml"/>
  <Override PartName="/ppt/slides/slide120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2.xml" ContentType="application/vnd.openxmlformats-officedocument.presentationml.slide+xml"/>
  <Override PartName="/ppt/slides/slide71.xml" ContentType="application/vnd.openxmlformats-officedocument.presentationml.slide+xml"/>
  <Override PartName="/ppt/slides/slide70.xml" ContentType="application/vnd.openxmlformats-officedocument.presentationml.slide+xml"/>
  <Override PartName="/ppt/slides/slide115.xml" ContentType="application/vnd.openxmlformats-officedocument.presentationml.slide+xml"/>
  <Override PartName="/ppt/slides/slide183.xml" ContentType="application/vnd.openxmlformats-officedocument.presentationml.slide+xml"/>
  <Override PartName="/ppt/slides/slide69.xml" ContentType="application/vnd.openxmlformats-officedocument.presentationml.slide+xml"/>
  <Override PartName="/ppt/slides/slide114.xml" ContentType="application/vnd.openxmlformats-officedocument.presentationml.slide+xml"/>
  <Override PartName="/ppt/slides/slide182.xml" ContentType="application/vnd.openxmlformats-officedocument.presentationml.slide+xml"/>
  <Override PartName="/ppt/slides/slide68.xml" ContentType="application/vnd.openxmlformats-officedocument.presentationml.slide+xml"/>
  <Override PartName="/ppt/slides/slide113.xml" ContentType="application/vnd.openxmlformats-officedocument.presentationml.slide+xml"/>
  <Override PartName="/ppt/slides/slide181.xml" ContentType="application/vnd.openxmlformats-officedocument.presentationml.slide+xml"/>
  <Override PartName="/ppt/slides/slide67.xml" ContentType="application/vnd.openxmlformats-officedocument.presentationml.slide+xml"/>
  <Override PartName="/ppt/slides/slide112.xml" ContentType="application/vnd.openxmlformats-officedocument.presentationml.slide+xml"/>
  <Override PartName="/ppt/slides/slide180.xml" ContentType="application/vnd.openxmlformats-officedocument.presentationml.slide+xml"/>
  <Override PartName="/ppt/slides/slide66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9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128.xml" ContentType="application/vnd.openxmlformats-officedocument.presentationml.slide+xml"/>
  <Override PartName="/ppt/slides/slide196.xml" ContentType="application/vnd.openxmlformats-officedocument.presentationml.slide+xml"/>
  <Override PartName="/ppt/slides/slide129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01.xml" ContentType="application/vnd.openxmlformats-officedocument.presentationml.slide+xml"/>
  <Override PartName="/ppt/slides/slide55.xml" ContentType="application/vnd.openxmlformats-officedocument.presentationml.slide+xml"/>
  <Override PartName="/ppt/slides/slide138.xml" ContentType="application/vnd.openxmlformats-officedocument.presentationml.slide+xml"/>
  <Override PartName="/ppt/slides/slide170.xml" ContentType="application/vnd.openxmlformats-officedocument.presentationml.slide+xml"/>
  <Override PartName="/ppt/slides/slide102.xml" ContentType="application/vnd.openxmlformats-officedocument.presentationml.slide+xml"/>
  <Override PartName="/ppt/slides/slide56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3.xml" ContentType="application/vnd.openxmlformats-officedocument.presentationml.slide+xml"/>
  <Override PartName="/ppt/slides/slide2.xml" ContentType="application/vnd.openxmlformats-officedocument.presentationml.slide+xml"/>
  <Override PartName="/ppt/slides/slide29.xml" ContentType="application/vnd.openxmlformats-officedocument.presentationml.slide+xml"/>
  <Override PartName="/ppt/slides/slide97.xml" ContentType="application/vnd.openxmlformats-officedocument.presentationml.slide+xml"/>
  <Override PartName="/ppt/slides/slide144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161.xml" ContentType="application/vnd.openxmlformats-officedocument.presentationml.slide+xml"/>
  <Override PartName="/ppt/slides/slide159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31.xml" ContentType="application/vnd.openxmlformats-officedocument.presentationml.slide+xml"/>
  <Override PartName="/ppt/slides/slide168.xml" ContentType="application/vnd.openxmlformats-officedocument.presentationml.slide+xml"/>
  <Override PartName="/ppt/slides/slide11.xml" ContentType="application/vnd.openxmlformats-officedocument.presentationml.slide+xml"/>
  <Override PartName="/ppt/slides/slide132.xml" ContentType="application/vnd.openxmlformats-officedocument.presentationml.slide+xml"/>
  <Override PartName="/ppt/slides/slide169.xml" ContentType="application/vnd.openxmlformats-officedocument.presentationml.slide+xml"/>
  <Override PartName="/ppt/slides/slide166.xml" ContentType="application/vnd.openxmlformats-officedocument.presentationml.slide+xml"/>
  <Override PartName="/ppt/slides/slide141.xml" ContentType="application/vnd.openxmlformats-officedocument.presentationml.slide+xml"/>
  <Override PartName="/ppt/slides/slide178.xml" ContentType="application/vnd.openxmlformats-officedocument.presentationml.slide+xml"/>
  <Override PartName="/ppt/slides/slide21.xml" ContentType="application/vnd.openxmlformats-officedocument.presentationml.slide+xml"/>
  <Override PartName="/ppt/slides/slide130.xml" ContentType="application/vnd.openxmlformats-officedocument.presentationml.slide+xml"/>
  <Override PartName="/ppt/slides/slide167.xml" ContentType="application/vnd.openxmlformats-officedocument.presentationml.slide+xml"/>
  <Override PartName="/ppt/slides/slide10.xml" ContentType="application/vnd.openxmlformats-officedocument.presentationml.slide+xml"/>
  <Override PartName="/ppt/slides/slide142.xml" ContentType="application/vnd.openxmlformats-officedocument.presentationml.slide+xml"/>
  <Override PartName="/ppt/slides/slide1.xml" ContentType="application/vnd.openxmlformats-officedocument.presentationml.slide+xml"/>
  <Override PartName="/ppt/slides/slide179.xml" ContentType="application/vnd.openxmlformats-officedocument.presentationml.slide+xml"/>
  <Override PartName="/ppt/slides/slide164.xml" ContentType="application/vnd.openxmlformats-officedocument.presentationml.slide+xml"/>
  <Override PartName="/ppt/slides/slide153.xml" ContentType="application/vnd.openxmlformats-officedocument.presentationml.slide+xml"/>
  <Override PartName="/ppt/slides/slide165.xml" ContentType="application/vnd.openxmlformats-officedocument.presentationml.slide+xml"/>
  <Override PartName="/ppt/slides/slide154.xml" ContentType="application/vnd.openxmlformats-officedocument.presentationml.slide+xml"/>
  <Override PartName="/ppt/slides/slide160.xml" ContentType="application/vnd.openxmlformats-officedocument.presentationml.slide+xml"/>
  <Override PartName="/ppt/slides/slide49.xml" ContentType="application/vnd.openxmlformats-officedocument.presentationml.slide+xml"/>
  <Override PartName="/ppt/slides/slide158.xml" ContentType="application/vnd.openxmlformats-officedocument.presentationml.slide+xml"/>
  <Override PartName="/ppt/slides/slide157.xml" ContentType="application/vnd.openxmlformats-officedocument.presentationml.slide+xml"/>
  <Override PartName="/ppt/slides/slide156.xml" ContentType="application/vnd.openxmlformats-officedocument.presentationml.slide+xml"/>
  <Override PartName="/ppt/slides/slide155.xml" ContentType="application/vnd.openxmlformats-officedocument.presentationml.slide+xml"/>
  <Override PartName="/ppt/slides/slide189.xml" ContentType="application/vnd.openxmlformats-officedocument.presentationml.slide+xml"/>
  <Override PartName="/ppt/slides/slide32.xml" ContentType="application/vnd.openxmlformats-officedocument.presentationml.slide+xml"/>
  <Override PartName="/ppt/slides/slide152.xml" ContentType="application/vnd.openxmlformats-officedocument.presentationml.slide+xml"/>
  <Override PartName="/ppt/slides/slide188.xml" ContentType="application/vnd.openxmlformats-officedocument.presentationml.slide+xml"/>
  <Override PartName="/ppt/slides/slide31.xml" ContentType="application/vnd.openxmlformats-officedocument.presentationml.slide+xml"/>
  <Override PartName="/ppt/slides/slide151.xml" ContentType="application/vnd.openxmlformats-officedocument.presentationml.slide+xml"/>
  <Override PartName="/ppt/slides/slide149.xml" ContentType="application/vnd.openxmlformats-officedocument.presentationml.slide+xml"/>
  <Override PartName="/ppt/slides/slide8.xml" ContentType="application/vnd.openxmlformats-officedocument.presentationml.slide+xml"/>
  <Override PartName="/ppt/slides/slide45.xml" ContentType="application/vnd.openxmlformats-officedocument.presentationml.slide+xml"/>
  <Override PartName="/ppt/slides/slide150.xml" ContentType="application/vnd.openxmlformats-officedocument.presentationml.slide+xml"/>
  <Override PartName="/ppt/slides/slide39.xml" ContentType="application/vnd.openxmlformats-officedocument.presentationml.slide+xml"/>
  <Override PartName="/ppt/slides/slide148.xml" ContentType="application/vnd.openxmlformats-officedocument.presentationml.slide+xml"/>
  <Override PartName="/ppt/slides/slide7.xml" ContentType="application/vnd.openxmlformats-officedocument.presentationml.slide+xml"/>
  <Override PartName="/ppt/slides/slide147.xml" ContentType="application/vnd.openxmlformats-officedocument.presentationml.slide+xml"/>
  <Override PartName="/ppt/slides/slide6.xml" ContentType="application/vnd.openxmlformats-officedocument.presentationml.slide+xml"/>
  <Override PartName="/ppt/slides/slide146.xml" ContentType="application/vnd.openxmlformats-officedocument.presentationml.slide+xml"/>
  <Override PartName="/ppt/slides/slide5.xml" ContentType="application/vnd.openxmlformats-officedocument.presentationml.slide+xml"/>
  <Override PartName="/ppt/slides/slide145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0.xml" ContentType="application/vnd.openxmlformats-officedocument.presentationml.slide+xml"/>
  <Override PartName="/ppt/slides/slide105.xml" ContentType="application/vnd.openxmlformats-officedocument.presentationml.slide+xml"/>
  <Override PartName="/ppt/slides/slide173.xml" ContentType="application/vnd.openxmlformats-officedocument.presentationml.slide+xml"/>
  <Override PartName="/ppt/slides/slide22.xml" ContentType="application/vnd.openxmlformats-officedocument.presentationml.slide+xml"/>
  <Override PartName="/ppt/slides/slide90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172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171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9.xml" ContentType="application/vnd.openxmlformats-officedocument.presentationml.slide+xml"/>
  <Override PartName="/ppt/slides/slide47.xml" ContentType="application/vnd.openxmlformats-officedocument.presentationml.slide+xml"/>
  <Override PartName="/ppt/slides/slide84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13.xml" ContentType="application/vnd.openxmlformats-officedocument.presentationml.slide+xml"/>
  <Override PartName="/ppt/slides/slide46.xml" ContentType="application/vnd.openxmlformats-officedocument.presentationml.slide+xml"/>
  <Override PartName="/ppt/slides/slide83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91.xml" ContentType="application/vnd.openxmlformats-officedocument.presentationml.slide+xml"/>
  <Override PartName="/ppt/slides/slide94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s/slide92.xml" ContentType="application/vnd.openxmlformats-officedocument.presentationml.slide+xml"/>
  <Override PartName="/ppt/slides/slide96.xml" ContentType="application/vnd.openxmlformats-officedocument.presentationml.slide+xml"/>
  <Override PartName="/ppt/slides/slide28.xml" ContentType="application/vnd.openxmlformats-officedocument.presentationml.slide+xml"/>
  <Override PartName="/ppt/slides/slide25.xml" ContentType="application/vnd.openxmlformats-officedocument.presentationml.slide+xml"/>
  <Override PartName="/ppt/slides/slide93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</p:sldMasterIdLst>
  <p:sldIdLst>
    <p:sldId id="256" r:id="rId34"/>
    <p:sldId id="257" r:id="rId35"/>
    <p:sldId id="258" r:id="rId3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  <p:sldId id="275" r:id="rId53"/>
    <p:sldId id="276" r:id="rId54"/>
    <p:sldId id="277" r:id="rId55"/>
    <p:sldId id="278" r:id="rId56"/>
    <p:sldId id="279" r:id="rId57"/>
    <p:sldId id="280" r:id="rId58"/>
    <p:sldId id="281" r:id="rId59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290" r:id="rId68"/>
    <p:sldId id="291" r:id="rId69"/>
    <p:sldId id="292" r:id="rId70"/>
    <p:sldId id="293" r:id="rId71"/>
    <p:sldId id="294" r:id="rId72"/>
    <p:sldId id="295" r:id="rId73"/>
    <p:sldId id="296" r:id="rId74"/>
    <p:sldId id="297" r:id="rId75"/>
    <p:sldId id="298" r:id="rId76"/>
    <p:sldId id="299" r:id="rId77"/>
    <p:sldId id="300" r:id="rId78"/>
    <p:sldId id="301" r:id="rId79"/>
    <p:sldId id="302" r:id="rId80"/>
    <p:sldId id="303" r:id="rId81"/>
    <p:sldId id="304" r:id="rId82"/>
    <p:sldId id="305" r:id="rId83"/>
    <p:sldId id="306" r:id="rId84"/>
    <p:sldId id="307" r:id="rId85"/>
    <p:sldId id="308" r:id="rId86"/>
    <p:sldId id="309" r:id="rId87"/>
    <p:sldId id="310" r:id="rId88"/>
    <p:sldId id="311" r:id="rId89"/>
    <p:sldId id="312" r:id="rId90"/>
    <p:sldId id="313" r:id="rId91"/>
    <p:sldId id="314" r:id="rId92"/>
    <p:sldId id="315" r:id="rId93"/>
    <p:sldId id="316" r:id="rId94"/>
    <p:sldId id="317" r:id="rId95"/>
    <p:sldId id="318" r:id="rId96"/>
    <p:sldId id="319" r:id="rId97"/>
    <p:sldId id="320" r:id="rId98"/>
    <p:sldId id="321" r:id="rId99"/>
    <p:sldId id="322" r:id="rId100"/>
    <p:sldId id="323" r:id="rId101"/>
    <p:sldId id="324" r:id="rId102"/>
    <p:sldId id="325" r:id="rId103"/>
    <p:sldId id="326" r:id="rId104"/>
    <p:sldId id="327" r:id="rId105"/>
    <p:sldId id="328" r:id="rId106"/>
    <p:sldId id="329" r:id="rId107"/>
    <p:sldId id="330" r:id="rId108"/>
    <p:sldId id="331" r:id="rId109"/>
    <p:sldId id="332" r:id="rId110"/>
    <p:sldId id="333" r:id="rId111"/>
    <p:sldId id="334" r:id="rId112"/>
    <p:sldId id="335" r:id="rId113"/>
    <p:sldId id="336" r:id="rId114"/>
    <p:sldId id="337" r:id="rId115"/>
    <p:sldId id="338" r:id="rId116"/>
    <p:sldId id="339" r:id="rId117"/>
    <p:sldId id="340" r:id="rId118"/>
    <p:sldId id="341" r:id="rId119"/>
    <p:sldId id="342" r:id="rId120"/>
    <p:sldId id="343" r:id="rId121"/>
    <p:sldId id="344" r:id="rId122"/>
    <p:sldId id="345" r:id="rId123"/>
    <p:sldId id="346" r:id="rId124"/>
    <p:sldId id="347" r:id="rId125"/>
    <p:sldId id="348" r:id="rId126"/>
    <p:sldId id="349" r:id="rId127"/>
    <p:sldId id="350" r:id="rId128"/>
    <p:sldId id="351" r:id="rId129"/>
    <p:sldId id="352" r:id="rId130"/>
    <p:sldId id="353" r:id="rId131"/>
    <p:sldId id="354" r:id="rId132"/>
    <p:sldId id="355" r:id="rId133"/>
    <p:sldId id="356" r:id="rId134"/>
    <p:sldId id="357" r:id="rId135"/>
    <p:sldId id="358" r:id="rId136"/>
    <p:sldId id="359" r:id="rId137"/>
    <p:sldId id="360" r:id="rId138"/>
    <p:sldId id="361" r:id="rId139"/>
    <p:sldId id="362" r:id="rId140"/>
    <p:sldId id="363" r:id="rId141"/>
    <p:sldId id="364" r:id="rId142"/>
    <p:sldId id="365" r:id="rId143"/>
    <p:sldId id="366" r:id="rId144"/>
    <p:sldId id="367" r:id="rId145"/>
    <p:sldId id="368" r:id="rId146"/>
    <p:sldId id="369" r:id="rId147"/>
    <p:sldId id="370" r:id="rId148"/>
    <p:sldId id="371" r:id="rId149"/>
    <p:sldId id="372" r:id="rId150"/>
    <p:sldId id="373" r:id="rId151"/>
    <p:sldId id="374" r:id="rId152"/>
    <p:sldId id="375" r:id="rId153"/>
    <p:sldId id="376" r:id="rId154"/>
    <p:sldId id="377" r:id="rId155"/>
    <p:sldId id="378" r:id="rId156"/>
    <p:sldId id="379" r:id="rId157"/>
    <p:sldId id="380" r:id="rId158"/>
    <p:sldId id="381" r:id="rId159"/>
    <p:sldId id="382" r:id="rId160"/>
    <p:sldId id="383" r:id="rId161"/>
    <p:sldId id="384" r:id="rId162"/>
    <p:sldId id="385" r:id="rId163"/>
    <p:sldId id="386" r:id="rId164"/>
    <p:sldId id="387" r:id="rId165"/>
    <p:sldId id="388" r:id="rId166"/>
    <p:sldId id="389" r:id="rId167"/>
    <p:sldId id="390" r:id="rId168"/>
    <p:sldId id="391" r:id="rId169"/>
    <p:sldId id="392" r:id="rId170"/>
    <p:sldId id="393" r:id="rId171"/>
    <p:sldId id="394" r:id="rId172"/>
    <p:sldId id="395" r:id="rId173"/>
    <p:sldId id="396" r:id="rId174"/>
    <p:sldId id="397" r:id="rId175"/>
    <p:sldId id="398" r:id="rId176"/>
    <p:sldId id="399" r:id="rId177"/>
    <p:sldId id="400" r:id="rId178"/>
    <p:sldId id="401" r:id="rId179"/>
    <p:sldId id="402" r:id="rId180"/>
    <p:sldId id="403" r:id="rId181"/>
    <p:sldId id="404" r:id="rId182"/>
    <p:sldId id="405" r:id="rId183"/>
    <p:sldId id="406" r:id="rId184"/>
    <p:sldId id="407" r:id="rId185"/>
    <p:sldId id="408" r:id="rId186"/>
    <p:sldId id="409" r:id="rId187"/>
    <p:sldId id="410" r:id="rId188"/>
    <p:sldId id="411" r:id="rId189"/>
    <p:sldId id="412" r:id="rId190"/>
    <p:sldId id="413" r:id="rId191"/>
    <p:sldId id="414" r:id="rId192"/>
    <p:sldId id="415" r:id="rId193"/>
    <p:sldId id="416" r:id="rId194"/>
    <p:sldId id="417" r:id="rId195"/>
    <p:sldId id="418" r:id="rId196"/>
    <p:sldId id="419" r:id="rId197"/>
    <p:sldId id="420" r:id="rId198"/>
    <p:sldId id="421" r:id="rId199"/>
    <p:sldId id="422" r:id="rId200"/>
    <p:sldId id="423" r:id="rId201"/>
    <p:sldId id="424" r:id="rId202"/>
    <p:sldId id="425" r:id="rId203"/>
    <p:sldId id="426" r:id="rId204"/>
    <p:sldId id="427" r:id="rId205"/>
    <p:sldId id="428" r:id="rId206"/>
    <p:sldId id="429" r:id="rId207"/>
    <p:sldId id="430" r:id="rId208"/>
    <p:sldId id="431" r:id="rId209"/>
    <p:sldId id="432" r:id="rId210"/>
    <p:sldId id="433" r:id="rId211"/>
    <p:sldId id="434" r:id="rId212"/>
    <p:sldId id="435" r:id="rId213"/>
    <p:sldId id="436" r:id="rId214"/>
    <p:sldId id="437" r:id="rId215"/>
    <p:sldId id="438" r:id="rId216"/>
    <p:sldId id="439" r:id="rId217"/>
    <p:sldId id="440" r:id="rId218"/>
    <p:sldId id="441" r:id="rId219"/>
    <p:sldId id="442" r:id="rId220"/>
    <p:sldId id="443" r:id="rId221"/>
    <p:sldId id="444" r:id="rId222"/>
    <p:sldId id="445" r:id="rId223"/>
    <p:sldId id="446" r:id="rId224"/>
    <p:sldId id="447" r:id="rId225"/>
    <p:sldId id="448" r:id="rId226"/>
    <p:sldId id="449" r:id="rId227"/>
    <p:sldId id="450" r:id="rId228"/>
    <p:sldId id="451" r:id="rId229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" Target="slides/slide1.xml"/><Relationship Id="rId35" Type="http://schemas.openxmlformats.org/officeDocument/2006/relationships/slide" Target="slides/slide2.xml"/><Relationship Id="rId36" Type="http://schemas.openxmlformats.org/officeDocument/2006/relationships/slide" Target="slides/slide3.xml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Relationship Id="rId53" Type="http://schemas.openxmlformats.org/officeDocument/2006/relationships/slide" Target="slides/slide20.xml"/><Relationship Id="rId54" Type="http://schemas.openxmlformats.org/officeDocument/2006/relationships/slide" Target="slides/slide21.xml"/><Relationship Id="rId55" Type="http://schemas.openxmlformats.org/officeDocument/2006/relationships/slide" Target="slides/slide22.xml"/><Relationship Id="rId56" Type="http://schemas.openxmlformats.org/officeDocument/2006/relationships/slide" Target="slides/slide23.xml"/><Relationship Id="rId57" Type="http://schemas.openxmlformats.org/officeDocument/2006/relationships/slide" Target="slides/slide24.xml"/><Relationship Id="rId58" Type="http://schemas.openxmlformats.org/officeDocument/2006/relationships/slide" Target="slides/slide25.xml"/><Relationship Id="rId59" Type="http://schemas.openxmlformats.org/officeDocument/2006/relationships/slide" Target="slides/slide26.xml"/><Relationship Id="rId60" Type="http://schemas.openxmlformats.org/officeDocument/2006/relationships/slide" Target="slides/slide27.xml"/><Relationship Id="rId61" Type="http://schemas.openxmlformats.org/officeDocument/2006/relationships/slide" Target="slides/slide28.xml"/><Relationship Id="rId62" Type="http://schemas.openxmlformats.org/officeDocument/2006/relationships/slide" Target="slides/slide29.xml"/><Relationship Id="rId63" Type="http://schemas.openxmlformats.org/officeDocument/2006/relationships/slide" Target="slides/slide30.xml"/><Relationship Id="rId64" Type="http://schemas.openxmlformats.org/officeDocument/2006/relationships/slide" Target="slides/slide31.xml"/><Relationship Id="rId65" Type="http://schemas.openxmlformats.org/officeDocument/2006/relationships/slide" Target="slides/slide32.xml"/><Relationship Id="rId66" Type="http://schemas.openxmlformats.org/officeDocument/2006/relationships/slide" Target="slides/slide33.xml"/><Relationship Id="rId67" Type="http://schemas.openxmlformats.org/officeDocument/2006/relationships/slide" Target="slides/slide34.xml"/><Relationship Id="rId68" Type="http://schemas.openxmlformats.org/officeDocument/2006/relationships/slide" Target="slides/slide35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38.xml"/><Relationship Id="rId72" Type="http://schemas.openxmlformats.org/officeDocument/2006/relationships/slide" Target="slides/slide39.xml"/><Relationship Id="rId73" Type="http://schemas.openxmlformats.org/officeDocument/2006/relationships/slide" Target="slides/slide40.xml"/><Relationship Id="rId74" Type="http://schemas.openxmlformats.org/officeDocument/2006/relationships/slide" Target="slides/slide41.xml"/><Relationship Id="rId75" Type="http://schemas.openxmlformats.org/officeDocument/2006/relationships/slide" Target="slides/slide42.xml"/><Relationship Id="rId76" Type="http://schemas.openxmlformats.org/officeDocument/2006/relationships/slide" Target="slides/slide43.xml"/><Relationship Id="rId77" Type="http://schemas.openxmlformats.org/officeDocument/2006/relationships/slide" Target="slides/slide44.xml"/><Relationship Id="rId78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1" Type="http://schemas.openxmlformats.org/officeDocument/2006/relationships/slide" Target="slides/slide48.xml"/><Relationship Id="rId82" Type="http://schemas.openxmlformats.org/officeDocument/2006/relationships/slide" Target="slides/slide49.xml"/><Relationship Id="rId83" Type="http://schemas.openxmlformats.org/officeDocument/2006/relationships/slide" Target="slides/slide50.xml"/><Relationship Id="rId84" Type="http://schemas.openxmlformats.org/officeDocument/2006/relationships/slide" Target="slides/slide51.xml"/><Relationship Id="rId85" Type="http://schemas.openxmlformats.org/officeDocument/2006/relationships/slide" Target="slides/slide52.xml"/><Relationship Id="rId86" Type="http://schemas.openxmlformats.org/officeDocument/2006/relationships/slide" Target="slides/slide53.xml"/><Relationship Id="rId87" Type="http://schemas.openxmlformats.org/officeDocument/2006/relationships/slide" Target="slides/slide54.xml"/><Relationship Id="rId88" Type="http://schemas.openxmlformats.org/officeDocument/2006/relationships/slide" Target="slides/slide55.xml"/><Relationship Id="rId89" Type="http://schemas.openxmlformats.org/officeDocument/2006/relationships/slide" Target="slides/slide56.xml"/><Relationship Id="rId90" Type="http://schemas.openxmlformats.org/officeDocument/2006/relationships/slide" Target="slides/slide57.xml"/><Relationship Id="rId91" Type="http://schemas.openxmlformats.org/officeDocument/2006/relationships/slide" Target="slides/slide58.xml"/><Relationship Id="rId92" Type="http://schemas.openxmlformats.org/officeDocument/2006/relationships/slide" Target="slides/slide59.xml"/><Relationship Id="rId93" Type="http://schemas.openxmlformats.org/officeDocument/2006/relationships/slide" Target="slides/slide60.xml"/><Relationship Id="rId94" Type="http://schemas.openxmlformats.org/officeDocument/2006/relationships/slide" Target="slides/slide61.xml"/><Relationship Id="rId95" Type="http://schemas.openxmlformats.org/officeDocument/2006/relationships/slide" Target="slides/slide62.xml"/><Relationship Id="rId96" Type="http://schemas.openxmlformats.org/officeDocument/2006/relationships/slide" Target="slides/slide63.xml"/><Relationship Id="rId97" Type="http://schemas.openxmlformats.org/officeDocument/2006/relationships/slide" Target="slides/slide64.xml"/><Relationship Id="rId98" Type="http://schemas.openxmlformats.org/officeDocument/2006/relationships/slide" Target="slides/slide65.xml"/><Relationship Id="rId99" Type="http://schemas.openxmlformats.org/officeDocument/2006/relationships/slide" Target="slides/slide66.xml"/><Relationship Id="rId100" Type="http://schemas.openxmlformats.org/officeDocument/2006/relationships/slide" Target="slides/slide67.xml"/><Relationship Id="rId101" Type="http://schemas.openxmlformats.org/officeDocument/2006/relationships/slide" Target="slides/slide68.xml"/><Relationship Id="rId102" Type="http://schemas.openxmlformats.org/officeDocument/2006/relationships/slide" Target="slides/slide69.xml"/><Relationship Id="rId103" Type="http://schemas.openxmlformats.org/officeDocument/2006/relationships/slide" Target="slides/slide70.xml"/><Relationship Id="rId104" Type="http://schemas.openxmlformats.org/officeDocument/2006/relationships/slide" Target="slides/slide71.xml"/><Relationship Id="rId105" Type="http://schemas.openxmlformats.org/officeDocument/2006/relationships/slide" Target="slides/slide72.xml"/><Relationship Id="rId106" Type="http://schemas.openxmlformats.org/officeDocument/2006/relationships/slide" Target="slides/slide73.xml"/><Relationship Id="rId107" Type="http://schemas.openxmlformats.org/officeDocument/2006/relationships/slide" Target="slides/slide74.xml"/><Relationship Id="rId108" Type="http://schemas.openxmlformats.org/officeDocument/2006/relationships/slide" Target="slides/slide75.xml"/><Relationship Id="rId109" Type="http://schemas.openxmlformats.org/officeDocument/2006/relationships/slide" Target="slides/slide76.xml"/><Relationship Id="rId110" Type="http://schemas.openxmlformats.org/officeDocument/2006/relationships/slide" Target="slides/slide77.xml"/><Relationship Id="rId111" Type="http://schemas.openxmlformats.org/officeDocument/2006/relationships/slide" Target="slides/slide78.xml"/><Relationship Id="rId112" Type="http://schemas.openxmlformats.org/officeDocument/2006/relationships/slide" Target="slides/slide79.xml"/><Relationship Id="rId113" Type="http://schemas.openxmlformats.org/officeDocument/2006/relationships/slide" Target="slides/slide80.xml"/><Relationship Id="rId114" Type="http://schemas.openxmlformats.org/officeDocument/2006/relationships/slide" Target="slides/slide81.xml"/><Relationship Id="rId115" Type="http://schemas.openxmlformats.org/officeDocument/2006/relationships/slide" Target="slides/slide82.xml"/><Relationship Id="rId116" Type="http://schemas.openxmlformats.org/officeDocument/2006/relationships/slide" Target="slides/slide83.xml"/><Relationship Id="rId117" Type="http://schemas.openxmlformats.org/officeDocument/2006/relationships/slide" Target="slides/slide84.xml"/><Relationship Id="rId118" Type="http://schemas.openxmlformats.org/officeDocument/2006/relationships/slide" Target="slides/slide85.xml"/><Relationship Id="rId119" Type="http://schemas.openxmlformats.org/officeDocument/2006/relationships/slide" Target="slides/slide86.xml"/><Relationship Id="rId120" Type="http://schemas.openxmlformats.org/officeDocument/2006/relationships/slide" Target="slides/slide87.xml"/><Relationship Id="rId121" Type="http://schemas.openxmlformats.org/officeDocument/2006/relationships/slide" Target="slides/slide88.xml"/><Relationship Id="rId122" Type="http://schemas.openxmlformats.org/officeDocument/2006/relationships/slide" Target="slides/slide89.xml"/><Relationship Id="rId123" Type="http://schemas.openxmlformats.org/officeDocument/2006/relationships/slide" Target="slides/slide90.xml"/><Relationship Id="rId124" Type="http://schemas.openxmlformats.org/officeDocument/2006/relationships/slide" Target="slides/slide91.xml"/><Relationship Id="rId125" Type="http://schemas.openxmlformats.org/officeDocument/2006/relationships/slide" Target="slides/slide92.xml"/><Relationship Id="rId126" Type="http://schemas.openxmlformats.org/officeDocument/2006/relationships/slide" Target="slides/slide93.xml"/><Relationship Id="rId127" Type="http://schemas.openxmlformats.org/officeDocument/2006/relationships/slide" Target="slides/slide94.xml"/><Relationship Id="rId128" Type="http://schemas.openxmlformats.org/officeDocument/2006/relationships/slide" Target="slides/slide95.xml"/><Relationship Id="rId129" Type="http://schemas.openxmlformats.org/officeDocument/2006/relationships/slide" Target="slides/slide96.xml"/><Relationship Id="rId130" Type="http://schemas.openxmlformats.org/officeDocument/2006/relationships/slide" Target="slides/slide97.xml"/><Relationship Id="rId131" Type="http://schemas.openxmlformats.org/officeDocument/2006/relationships/slide" Target="slides/slide98.xml"/><Relationship Id="rId132" Type="http://schemas.openxmlformats.org/officeDocument/2006/relationships/slide" Target="slides/slide99.xml"/><Relationship Id="rId133" Type="http://schemas.openxmlformats.org/officeDocument/2006/relationships/slide" Target="slides/slide100.xml"/><Relationship Id="rId134" Type="http://schemas.openxmlformats.org/officeDocument/2006/relationships/slide" Target="slides/slide101.xml"/><Relationship Id="rId135" Type="http://schemas.openxmlformats.org/officeDocument/2006/relationships/slide" Target="slides/slide102.xml"/><Relationship Id="rId136" Type="http://schemas.openxmlformats.org/officeDocument/2006/relationships/slide" Target="slides/slide103.xml"/><Relationship Id="rId137" Type="http://schemas.openxmlformats.org/officeDocument/2006/relationships/slide" Target="slides/slide104.xml"/><Relationship Id="rId138" Type="http://schemas.openxmlformats.org/officeDocument/2006/relationships/slide" Target="slides/slide105.xml"/><Relationship Id="rId139" Type="http://schemas.openxmlformats.org/officeDocument/2006/relationships/slide" Target="slides/slide106.xml"/><Relationship Id="rId140" Type="http://schemas.openxmlformats.org/officeDocument/2006/relationships/slide" Target="slides/slide107.xml"/><Relationship Id="rId141" Type="http://schemas.openxmlformats.org/officeDocument/2006/relationships/slide" Target="slides/slide108.xml"/><Relationship Id="rId142" Type="http://schemas.openxmlformats.org/officeDocument/2006/relationships/slide" Target="slides/slide109.xml"/><Relationship Id="rId143" Type="http://schemas.openxmlformats.org/officeDocument/2006/relationships/slide" Target="slides/slide110.xml"/><Relationship Id="rId144" Type="http://schemas.openxmlformats.org/officeDocument/2006/relationships/slide" Target="slides/slide111.xml"/><Relationship Id="rId145" Type="http://schemas.openxmlformats.org/officeDocument/2006/relationships/slide" Target="slides/slide112.xml"/><Relationship Id="rId146" Type="http://schemas.openxmlformats.org/officeDocument/2006/relationships/slide" Target="slides/slide113.xml"/><Relationship Id="rId147" Type="http://schemas.openxmlformats.org/officeDocument/2006/relationships/slide" Target="slides/slide114.xml"/><Relationship Id="rId148" Type="http://schemas.openxmlformats.org/officeDocument/2006/relationships/slide" Target="slides/slide115.xml"/><Relationship Id="rId149" Type="http://schemas.openxmlformats.org/officeDocument/2006/relationships/slide" Target="slides/slide116.xml"/><Relationship Id="rId150" Type="http://schemas.openxmlformats.org/officeDocument/2006/relationships/slide" Target="slides/slide117.xml"/><Relationship Id="rId151" Type="http://schemas.openxmlformats.org/officeDocument/2006/relationships/slide" Target="slides/slide118.xml"/><Relationship Id="rId152" Type="http://schemas.openxmlformats.org/officeDocument/2006/relationships/slide" Target="slides/slide119.xml"/><Relationship Id="rId153" Type="http://schemas.openxmlformats.org/officeDocument/2006/relationships/slide" Target="slides/slide120.xml"/><Relationship Id="rId154" Type="http://schemas.openxmlformats.org/officeDocument/2006/relationships/slide" Target="slides/slide121.xml"/><Relationship Id="rId155" Type="http://schemas.openxmlformats.org/officeDocument/2006/relationships/slide" Target="slides/slide122.xml"/><Relationship Id="rId156" Type="http://schemas.openxmlformats.org/officeDocument/2006/relationships/slide" Target="slides/slide123.xml"/><Relationship Id="rId157" Type="http://schemas.openxmlformats.org/officeDocument/2006/relationships/slide" Target="slides/slide124.xml"/><Relationship Id="rId158" Type="http://schemas.openxmlformats.org/officeDocument/2006/relationships/slide" Target="slides/slide125.xml"/><Relationship Id="rId159" Type="http://schemas.openxmlformats.org/officeDocument/2006/relationships/slide" Target="slides/slide126.xml"/><Relationship Id="rId160" Type="http://schemas.openxmlformats.org/officeDocument/2006/relationships/slide" Target="slides/slide127.xml"/><Relationship Id="rId161" Type="http://schemas.openxmlformats.org/officeDocument/2006/relationships/slide" Target="slides/slide128.xml"/><Relationship Id="rId162" Type="http://schemas.openxmlformats.org/officeDocument/2006/relationships/slide" Target="slides/slide129.xml"/><Relationship Id="rId163" Type="http://schemas.openxmlformats.org/officeDocument/2006/relationships/slide" Target="slides/slide130.xml"/><Relationship Id="rId164" Type="http://schemas.openxmlformats.org/officeDocument/2006/relationships/slide" Target="slides/slide131.xml"/><Relationship Id="rId165" Type="http://schemas.openxmlformats.org/officeDocument/2006/relationships/slide" Target="slides/slide132.xml"/><Relationship Id="rId166" Type="http://schemas.openxmlformats.org/officeDocument/2006/relationships/slide" Target="slides/slide133.xml"/><Relationship Id="rId167" Type="http://schemas.openxmlformats.org/officeDocument/2006/relationships/slide" Target="slides/slide134.xml"/><Relationship Id="rId168" Type="http://schemas.openxmlformats.org/officeDocument/2006/relationships/slide" Target="slides/slide135.xml"/><Relationship Id="rId169" Type="http://schemas.openxmlformats.org/officeDocument/2006/relationships/slide" Target="slides/slide136.xml"/><Relationship Id="rId170" Type="http://schemas.openxmlformats.org/officeDocument/2006/relationships/slide" Target="slides/slide137.xml"/><Relationship Id="rId171" Type="http://schemas.openxmlformats.org/officeDocument/2006/relationships/slide" Target="slides/slide138.xml"/><Relationship Id="rId172" Type="http://schemas.openxmlformats.org/officeDocument/2006/relationships/slide" Target="slides/slide139.xml"/><Relationship Id="rId173" Type="http://schemas.openxmlformats.org/officeDocument/2006/relationships/slide" Target="slides/slide140.xml"/><Relationship Id="rId174" Type="http://schemas.openxmlformats.org/officeDocument/2006/relationships/slide" Target="slides/slide141.xml"/><Relationship Id="rId175" Type="http://schemas.openxmlformats.org/officeDocument/2006/relationships/slide" Target="slides/slide142.xml"/><Relationship Id="rId176" Type="http://schemas.openxmlformats.org/officeDocument/2006/relationships/slide" Target="slides/slide143.xml"/><Relationship Id="rId177" Type="http://schemas.openxmlformats.org/officeDocument/2006/relationships/slide" Target="slides/slide144.xml"/><Relationship Id="rId178" Type="http://schemas.openxmlformats.org/officeDocument/2006/relationships/slide" Target="slides/slide145.xml"/><Relationship Id="rId179" Type="http://schemas.openxmlformats.org/officeDocument/2006/relationships/slide" Target="slides/slide146.xml"/><Relationship Id="rId180" Type="http://schemas.openxmlformats.org/officeDocument/2006/relationships/slide" Target="slides/slide147.xml"/><Relationship Id="rId181" Type="http://schemas.openxmlformats.org/officeDocument/2006/relationships/slide" Target="slides/slide148.xml"/><Relationship Id="rId182" Type="http://schemas.openxmlformats.org/officeDocument/2006/relationships/slide" Target="slides/slide149.xml"/><Relationship Id="rId183" Type="http://schemas.openxmlformats.org/officeDocument/2006/relationships/slide" Target="slides/slide150.xml"/><Relationship Id="rId184" Type="http://schemas.openxmlformats.org/officeDocument/2006/relationships/slide" Target="slides/slide151.xml"/><Relationship Id="rId185" Type="http://schemas.openxmlformats.org/officeDocument/2006/relationships/slide" Target="slides/slide152.xml"/><Relationship Id="rId186" Type="http://schemas.openxmlformats.org/officeDocument/2006/relationships/slide" Target="slides/slide153.xml"/><Relationship Id="rId187" Type="http://schemas.openxmlformats.org/officeDocument/2006/relationships/slide" Target="slides/slide154.xml"/><Relationship Id="rId188" Type="http://schemas.openxmlformats.org/officeDocument/2006/relationships/slide" Target="slides/slide155.xml"/><Relationship Id="rId189" Type="http://schemas.openxmlformats.org/officeDocument/2006/relationships/slide" Target="slides/slide156.xml"/><Relationship Id="rId190" Type="http://schemas.openxmlformats.org/officeDocument/2006/relationships/slide" Target="slides/slide157.xml"/><Relationship Id="rId191" Type="http://schemas.openxmlformats.org/officeDocument/2006/relationships/slide" Target="slides/slide158.xml"/><Relationship Id="rId192" Type="http://schemas.openxmlformats.org/officeDocument/2006/relationships/slide" Target="slides/slide159.xml"/><Relationship Id="rId193" Type="http://schemas.openxmlformats.org/officeDocument/2006/relationships/slide" Target="slides/slide160.xml"/><Relationship Id="rId194" Type="http://schemas.openxmlformats.org/officeDocument/2006/relationships/slide" Target="slides/slide161.xml"/><Relationship Id="rId195" Type="http://schemas.openxmlformats.org/officeDocument/2006/relationships/slide" Target="slides/slide162.xml"/><Relationship Id="rId196" Type="http://schemas.openxmlformats.org/officeDocument/2006/relationships/slide" Target="slides/slide163.xml"/><Relationship Id="rId197" Type="http://schemas.openxmlformats.org/officeDocument/2006/relationships/slide" Target="slides/slide164.xml"/><Relationship Id="rId198" Type="http://schemas.openxmlformats.org/officeDocument/2006/relationships/slide" Target="slides/slide165.xml"/><Relationship Id="rId199" Type="http://schemas.openxmlformats.org/officeDocument/2006/relationships/slide" Target="slides/slide166.xml"/><Relationship Id="rId200" Type="http://schemas.openxmlformats.org/officeDocument/2006/relationships/slide" Target="slides/slide167.xml"/><Relationship Id="rId201" Type="http://schemas.openxmlformats.org/officeDocument/2006/relationships/slide" Target="slides/slide168.xml"/><Relationship Id="rId202" Type="http://schemas.openxmlformats.org/officeDocument/2006/relationships/slide" Target="slides/slide169.xml"/><Relationship Id="rId203" Type="http://schemas.openxmlformats.org/officeDocument/2006/relationships/slide" Target="slides/slide170.xml"/><Relationship Id="rId204" Type="http://schemas.openxmlformats.org/officeDocument/2006/relationships/slide" Target="slides/slide171.xml"/><Relationship Id="rId205" Type="http://schemas.openxmlformats.org/officeDocument/2006/relationships/slide" Target="slides/slide172.xml"/><Relationship Id="rId206" Type="http://schemas.openxmlformats.org/officeDocument/2006/relationships/slide" Target="slides/slide173.xml"/><Relationship Id="rId207" Type="http://schemas.openxmlformats.org/officeDocument/2006/relationships/slide" Target="slides/slide174.xml"/><Relationship Id="rId208" Type="http://schemas.openxmlformats.org/officeDocument/2006/relationships/slide" Target="slides/slide175.xml"/><Relationship Id="rId209" Type="http://schemas.openxmlformats.org/officeDocument/2006/relationships/slide" Target="slides/slide176.xml"/><Relationship Id="rId210" Type="http://schemas.openxmlformats.org/officeDocument/2006/relationships/slide" Target="slides/slide177.xml"/><Relationship Id="rId211" Type="http://schemas.openxmlformats.org/officeDocument/2006/relationships/slide" Target="slides/slide178.xml"/><Relationship Id="rId212" Type="http://schemas.openxmlformats.org/officeDocument/2006/relationships/slide" Target="slides/slide179.xml"/><Relationship Id="rId213" Type="http://schemas.openxmlformats.org/officeDocument/2006/relationships/slide" Target="slides/slide180.xml"/><Relationship Id="rId214" Type="http://schemas.openxmlformats.org/officeDocument/2006/relationships/slide" Target="slides/slide181.xml"/><Relationship Id="rId215" Type="http://schemas.openxmlformats.org/officeDocument/2006/relationships/slide" Target="slides/slide182.xml"/><Relationship Id="rId216" Type="http://schemas.openxmlformats.org/officeDocument/2006/relationships/slide" Target="slides/slide183.xml"/><Relationship Id="rId217" Type="http://schemas.openxmlformats.org/officeDocument/2006/relationships/slide" Target="slides/slide184.xml"/><Relationship Id="rId218" Type="http://schemas.openxmlformats.org/officeDocument/2006/relationships/slide" Target="slides/slide185.xml"/><Relationship Id="rId219" Type="http://schemas.openxmlformats.org/officeDocument/2006/relationships/slide" Target="slides/slide186.xml"/><Relationship Id="rId220" Type="http://schemas.openxmlformats.org/officeDocument/2006/relationships/slide" Target="slides/slide187.xml"/><Relationship Id="rId221" Type="http://schemas.openxmlformats.org/officeDocument/2006/relationships/slide" Target="slides/slide188.xml"/><Relationship Id="rId222" Type="http://schemas.openxmlformats.org/officeDocument/2006/relationships/slide" Target="slides/slide189.xml"/><Relationship Id="rId223" Type="http://schemas.openxmlformats.org/officeDocument/2006/relationships/slide" Target="slides/slide190.xml"/><Relationship Id="rId224" Type="http://schemas.openxmlformats.org/officeDocument/2006/relationships/slide" Target="slides/slide191.xml"/><Relationship Id="rId225" Type="http://schemas.openxmlformats.org/officeDocument/2006/relationships/slide" Target="slides/slide192.xml"/><Relationship Id="rId226" Type="http://schemas.openxmlformats.org/officeDocument/2006/relationships/slide" Target="slides/slide193.xml"/><Relationship Id="rId227" Type="http://schemas.openxmlformats.org/officeDocument/2006/relationships/slide" Target="slides/slide194.xml"/><Relationship Id="rId228" Type="http://schemas.openxmlformats.org/officeDocument/2006/relationships/slide" Target="slides/slide195.xml"/><Relationship Id="rId229" Type="http://schemas.openxmlformats.org/officeDocument/2006/relationships/slide" Target="slides/slide196.xml"/><Relationship Id="rId2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C14109-F83F-404A-BA78-710073C3CB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A0848E4-DDE2-4C1B-B8B3-F66933FF4F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604DA8B-3616-4232-A569-36F36B1A32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B37B6A1-EC0A-403B-BB25-2FB6021697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8611A5F-FADC-42EE-8989-40F8FBC445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411120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5405400" y="2083320"/>
            <a:ext cx="411120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EC688E4-9BBD-4332-83F5-9F5B656741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D39A6D1-EBFC-456E-A8B4-E29A27BF66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17C7491-D53D-49F9-AB6D-06FC5CA12F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84AD143-C025-48D4-AA56-0352DD57FB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A08389F-9CAD-4255-B7C1-CCEEAA7ECD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82188873-9A8B-4168-B4A2-04448EC9D7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ED1D873-A35F-40BA-B78F-F386CE7FCF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A1A929F-7DFD-46B2-8394-81EA7A2D88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19EEA21E-5AE4-473D-BD21-BC0E62EACA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Onl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833D729-93EC-4EE6-8D63-A0D30958F7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0421B3D3-9678-4D21-830D-CD475A653D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9EAF54A-FE0B-431B-8A36-661B098FE6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CE03BE7D-FAF5-4D9C-B2A7-12CB221E59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35773FB3-145E-4828-949B-5BAC04F9A1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1E2D6FAE-0CC2-45AB-ABFF-1CED64ADB6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C82396F9-128C-4408-9C92-7F4FC45A8D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60D2D50-107C-4983-B316-FFB88C684E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71E2D2A2-C1FB-4E69-8E48-BA8D87F417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4D5CB008-AB54-48C3-ACFF-EE5467CE8F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7A64B775-04CD-4ADE-8AB4-EEAD1929EC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C75AFAB3-47D8-48FF-8557-4DBF11161F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and Content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190C902D-F481-4B58-943D-44C739F289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B113D4A6-9EBA-4D06-9A96-5ADF807803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355E6F5C-4574-444E-8F05-BFC16196CC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 5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CB0064FA-7DCC-4684-B342-D88C0165AD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tandard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CA7A519B-AC96-4B63-80A1-D6608995F6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tandard 9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D63D33C4-CFE4-4240-909B-F0901AD77A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290880" y="139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" name="bg object 17" descr=""/>
          <p:cNvPicPr/>
          <p:nvPr/>
        </p:nvPicPr>
        <p:blipFill>
          <a:blip r:embed="rId2"/>
          <a:stretch/>
        </p:blipFill>
        <p:spPr>
          <a:xfrm>
            <a:off x="670680" y="139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" name="bg object 18"/>
          <p:cNvSpPr/>
          <p:nvPr/>
        </p:nvSpPr>
        <p:spPr>
          <a:xfrm>
            <a:off x="414000" y="181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" name="bg object 19" descr=""/>
          <p:cNvPicPr/>
          <p:nvPr/>
        </p:nvPicPr>
        <p:blipFill>
          <a:blip r:embed="rId3"/>
          <a:stretch/>
        </p:blipFill>
        <p:spPr>
          <a:xfrm>
            <a:off x="781200" y="181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4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5" name="bg object 21"/>
          <p:cNvSpPr/>
          <p:nvPr/>
        </p:nvSpPr>
        <p:spPr>
          <a:xfrm>
            <a:off x="635040" y="128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6" name="bg object 22" descr=""/>
          <p:cNvPicPr/>
          <p:nvPr/>
        </p:nvPicPr>
        <p:blipFill>
          <a:blip r:embed="rId5"/>
          <a:stretch/>
        </p:blipFill>
        <p:spPr>
          <a:xfrm>
            <a:off x="350640" y="218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8DCAF3A0-9874-420A-81E6-EE46D4961053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3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5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6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7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8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9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0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4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5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CA31874B-E10B-4C02-835E-AF73EB31DE1F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6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9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0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1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2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3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4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7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8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D8F184CD-0898-4C84-9992-75A91087A943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9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43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44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5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46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47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48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10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11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C32C7501-CEAE-4DCD-89B1-F647E384B458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dt" idx="12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57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58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59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60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61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62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ftr" idx="13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sldNum" idx="14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43B54C9E-6735-4668-BFAF-2F437456F309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15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0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71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72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73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74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75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411084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5405400" y="2083320"/>
            <a:ext cx="411084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16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17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5C4231C4-B496-438B-BA4B-9933890241A7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18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86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87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88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89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90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91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ftr" idx="19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20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569E8E55-6A7A-4A23-B251-4CCAD6D40942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21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g object 16"/>
          <p:cNvSpPr/>
          <p:nvPr/>
        </p:nvSpPr>
        <p:spPr>
          <a:xfrm>
            <a:off x="290880" y="103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99" name="bg object 17" descr=""/>
          <p:cNvPicPr/>
          <p:nvPr/>
        </p:nvPicPr>
        <p:blipFill>
          <a:blip r:embed="rId2"/>
          <a:stretch/>
        </p:blipFill>
        <p:spPr>
          <a:xfrm>
            <a:off x="670680" y="103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00" name="bg object 18"/>
          <p:cNvSpPr/>
          <p:nvPr/>
        </p:nvSpPr>
        <p:spPr>
          <a:xfrm>
            <a:off x="414000" y="145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01" name="bg object 19" descr=""/>
          <p:cNvPicPr/>
          <p:nvPr/>
        </p:nvPicPr>
        <p:blipFill>
          <a:blip r:embed="rId3"/>
          <a:stretch/>
        </p:blipFill>
        <p:spPr>
          <a:xfrm>
            <a:off x="781200" y="145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02" name="bg object 20" descr=""/>
          <p:cNvPicPr/>
          <p:nvPr/>
        </p:nvPicPr>
        <p:blipFill>
          <a:blip r:embed="rId4"/>
          <a:stretch/>
        </p:blipFill>
        <p:spPr>
          <a:xfrm>
            <a:off x="0" y="138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03" name="bg object 21"/>
          <p:cNvSpPr/>
          <p:nvPr/>
        </p:nvSpPr>
        <p:spPr>
          <a:xfrm>
            <a:off x="635040" y="92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04" name="bg object 22" descr=""/>
          <p:cNvPicPr/>
          <p:nvPr/>
        </p:nvPicPr>
        <p:blipFill>
          <a:blip r:embed="rId5"/>
          <a:stretch/>
        </p:blipFill>
        <p:spPr>
          <a:xfrm>
            <a:off x="350640" y="182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ftr" idx="22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sldNum" idx="23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5189E22F-E9F3-44D7-9AE8-EEB3739670FB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dt" idx="24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bg object 16"/>
          <p:cNvSpPr/>
          <p:nvPr/>
        </p:nvSpPr>
        <p:spPr>
          <a:xfrm>
            <a:off x="290880" y="1145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13" name="bg object 17" descr=""/>
          <p:cNvPicPr/>
          <p:nvPr/>
        </p:nvPicPr>
        <p:blipFill>
          <a:blip r:embed="rId2"/>
          <a:stretch/>
        </p:blipFill>
        <p:spPr>
          <a:xfrm>
            <a:off x="670680" y="1145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14" name="bg object 18"/>
          <p:cNvSpPr/>
          <p:nvPr/>
        </p:nvSpPr>
        <p:spPr>
          <a:xfrm>
            <a:off x="414000" y="1564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15" name="bg object 19" descr=""/>
          <p:cNvPicPr/>
          <p:nvPr/>
        </p:nvPicPr>
        <p:blipFill>
          <a:blip r:embed="rId3"/>
          <a:stretch/>
        </p:blipFill>
        <p:spPr>
          <a:xfrm>
            <a:off x="781200" y="1564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16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17" name="bg object 21"/>
          <p:cNvSpPr/>
          <p:nvPr/>
        </p:nvSpPr>
        <p:spPr>
          <a:xfrm>
            <a:off x="635040" y="1037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18" name="bg object 22" descr=""/>
          <p:cNvPicPr/>
          <p:nvPr/>
        </p:nvPicPr>
        <p:blipFill>
          <a:blip r:embed="rId5"/>
          <a:stretch/>
        </p:blipFill>
        <p:spPr>
          <a:xfrm>
            <a:off x="350640" y="1929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ftr" idx="25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26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A01AAD51-63A3-456C-9B14-3FE17BEB6D5F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dt" idx="27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26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27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28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29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30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31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28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29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DF49EFF9-54E7-4DDD-BE30-282E4E6248D9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dt" idx="30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39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40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41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42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43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44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ftr" idx="31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32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09F557D5-D82A-45D8-B185-F07D7E2B1DD3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dt" idx="33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6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52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53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54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55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56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57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ftr" idx="34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sldNum" idx="35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C29730C1-CA35-41F7-99A5-921E44C75AEB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dt" idx="36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6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bg object 16"/>
          <p:cNvSpPr/>
          <p:nvPr/>
        </p:nvSpPr>
        <p:spPr>
          <a:xfrm>
            <a:off x="290880" y="85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66" name="bg object 17" descr=""/>
          <p:cNvPicPr/>
          <p:nvPr/>
        </p:nvPicPr>
        <p:blipFill>
          <a:blip r:embed="rId2"/>
          <a:stretch/>
        </p:blipFill>
        <p:spPr>
          <a:xfrm>
            <a:off x="670680" y="85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67" name="bg object 18"/>
          <p:cNvSpPr/>
          <p:nvPr/>
        </p:nvSpPr>
        <p:spPr>
          <a:xfrm>
            <a:off x="414000" y="127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68" name="bg object 19" descr=""/>
          <p:cNvPicPr/>
          <p:nvPr/>
        </p:nvPicPr>
        <p:blipFill>
          <a:blip r:embed="rId3"/>
          <a:stretch/>
        </p:blipFill>
        <p:spPr>
          <a:xfrm>
            <a:off x="781200" y="127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69" name="bg object 20" descr=""/>
          <p:cNvPicPr/>
          <p:nvPr/>
        </p:nvPicPr>
        <p:blipFill>
          <a:blip r:embed="rId4"/>
          <a:stretch/>
        </p:blipFill>
        <p:spPr>
          <a:xfrm>
            <a:off x="0" y="120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70" name="bg object 21"/>
          <p:cNvSpPr/>
          <p:nvPr/>
        </p:nvSpPr>
        <p:spPr>
          <a:xfrm>
            <a:off x="635040" y="74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71" name="bg object 22" descr=""/>
          <p:cNvPicPr/>
          <p:nvPr/>
        </p:nvPicPr>
        <p:blipFill>
          <a:blip r:embed="rId5"/>
          <a:stretch/>
        </p:blipFill>
        <p:spPr>
          <a:xfrm>
            <a:off x="350640" y="164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ftr" idx="37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38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40E40493-4B20-43E6-BDD9-FEC0019599B0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dt" idx="39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6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bg object 16"/>
          <p:cNvSpPr/>
          <p:nvPr/>
        </p:nvSpPr>
        <p:spPr>
          <a:xfrm>
            <a:off x="290880" y="857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79" name="bg object 17" descr=""/>
          <p:cNvPicPr/>
          <p:nvPr/>
        </p:nvPicPr>
        <p:blipFill>
          <a:blip r:embed="rId2"/>
          <a:stretch/>
        </p:blipFill>
        <p:spPr>
          <a:xfrm>
            <a:off x="670680" y="857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80" name="bg object 18"/>
          <p:cNvSpPr/>
          <p:nvPr/>
        </p:nvSpPr>
        <p:spPr>
          <a:xfrm>
            <a:off x="414000" y="1276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81" name="bg object 19" descr=""/>
          <p:cNvPicPr/>
          <p:nvPr/>
        </p:nvPicPr>
        <p:blipFill>
          <a:blip r:embed="rId3"/>
          <a:stretch/>
        </p:blipFill>
        <p:spPr>
          <a:xfrm>
            <a:off x="781200" y="1276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82" name="bg object 20" descr=""/>
          <p:cNvPicPr/>
          <p:nvPr/>
        </p:nvPicPr>
        <p:blipFill>
          <a:blip r:embed="rId4"/>
          <a:stretch/>
        </p:blipFill>
        <p:spPr>
          <a:xfrm>
            <a:off x="0" y="120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83" name="bg object 21"/>
          <p:cNvSpPr/>
          <p:nvPr/>
        </p:nvSpPr>
        <p:spPr>
          <a:xfrm>
            <a:off x="635040" y="749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84" name="bg object 22" descr=""/>
          <p:cNvPicPr/>
          <p:nvPr/>
        </p:nvPicPr>
        <p:blipFill>
          <a:blip r:embed="rId5"/>
          <a:stretch/>
        </p:blipFill>
        <p:spPr>
          <a:xfrm>
            <a:off x="350640" y="1641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ftr" idx="40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41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5CDB49ED-BB57-47AE-A366-7295B1BC6149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dt" idx="42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6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93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194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95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196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197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198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ftr" idx="43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44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22A114B2-0F8D-452E-9E1C-2626BCCAD45B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dt" idx="45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6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06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07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08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09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10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11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ftr" idx="46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47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5A54C37B-052B-4822-B79B-25F1219251E1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dt" idx="48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6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19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20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21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22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23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24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ftr" idx="49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sldNum" idx="50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D3B5D370-7866-446D-B8F6-BF3A0315DCC3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dt" idx="51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6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33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34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35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36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37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38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ftr" idx="52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53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00BC57A0-6EB1-479F-B600-104D4125F5CA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dt" idx="54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6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46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47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48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49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50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51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ftr" idx="55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PlaceHolder 4"/>
          <p:cNvSpPr>
            <a:spLocks noGrp="1"/>
          </p:cNvSpPr>
          <p:nvPr>
            <p:ph type="sldNum" idx="56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99182FA2-7314-4C7C-B41C-D14841515092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6" name="PlaceHolder 5"/>
          <p:cNvSpPr>
            <a:spLocks noGrp="1"/>
          </p:cNvSpPr>
          <p:nvPr>
            <p:ph type="dt" idx="57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6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60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61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62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63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64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65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ftr" idx="58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59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F5C72EE2-0ADD-490F-8F86-793D18D8D170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dt" idx="60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6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74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75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76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77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78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79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ftr" idx="61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 type="sldNum" idx="62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9610E7E5-685F-474B-9161-786064DBF327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 type="dt" idx="63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6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88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289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290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291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292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293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ftr" idx="64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sldNum" idx="65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7F334400-BEEC-4945-A902-98CE9CDE2777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dt" idx="66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6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02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03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04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05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06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07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ftr" idx="67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 type="sldNum" idx="68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1EF734BB-0CC2-4E4E-BB3A-329BEF8FA63E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PlaceHolder 5"/>
          <p:cNvSpPr>
            <a:spLocks noGrp="1"/>
          </p:cNvSpPr>
          <p:nvPr>
            <p:ph type="dt" idx="69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6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16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17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18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19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20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21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ftr" idx="70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 type="sldNum" idx="71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8649B64C-AC8C-4157-8221-7AED22120B39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 type="dt" idx="72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6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30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31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32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33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34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35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ftr" idx="73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sldNum" idx="74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8EC5C462-BA6C-4ED8-8841-8193A6AE95BF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dt" idx="75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6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bg object 16"/>
          <p:cNvSpPr/>
          <p:nvPr/>
        </p:nvSpPr>
        <p:spPr>
          <a:xfrm>
            <a:off x="290880" y="821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44" name="bg object 17" descr=""/>
          <p:cNvPicPr/>
          <p:nvPr/>
        </p:nvPicPr>
        <p:blipFill>
          <a:blip r:embed="rId2"/>
          <a:stretch/>
        </p:blipFill>
        <p:spPr>
          <a:xfrm>
            <a:off x="670680" y="821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45" name="bg object 18"/>
          <p:cNvSpPr/>
          <p:nvPr/>
        </p:nvSpPr>
        <p:spPr>
          <a:xfrm>
            <a:off x="414000" y="1240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46" name="bg object 19" descr=""/>
          <p:cNvPicPr/>
          <p:nvPr/>
        </p:nvPicPr>
        <p:blipFill>
          <a:blip r:embed="rId3"/>
          <a:stretch/>
        </p:blipFill>
        <p:spPr>
          <a:xfrm>
            <a:off x="781200" y="1240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47" name="bg object 20" descr=""/>
          <p:cNvPicPr/>
          <p:nvPr/>
        </p:nvPicPr>
        <p:blipFill>
          <a:blip r:embed="rId4"/>
          <a:stretch/>
        </p:blipFill>
        <p:spPr>
          <a:xfrm>
            <a:off x="0" y="1167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48" name="bg object 21"/>
          <p:cNvSpPr/>
          <p:nvPr/>
        </p:nvSpPr>
        <p:spPr>
          <a:xfrm>
            <a:off x="635040" y="713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49" name="bg object 22" descr=""/>
          <p:cNvPicPr/>
          <p:nvPr/>
        </p:nvPicPr>
        <p:blipFill>
          <a:blip r:embed="rId5"/>
          <a:stretch/>
        </p:blipFill>
        <p:spPr>
          <a:xfrm>
            <a:off x="350640" y="1605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ftr" idx="76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77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E9CB595F-82C7-407C-85F6-0B8A943B2085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3" name="PlaceHolder 4"/>
          <p:cNvSpPr>
            <a:spLocks noGrp="1"/>
          </p:cNvSpPr>
          <p:nvPr>
            <p:ph type="dt" idx="78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6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57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58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59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60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61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62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ftr" idx="79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80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144571E3-246D-4AC2-9FA5-CA5418BEC473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dt" idx="81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6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70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71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72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73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74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75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ftr" idx="82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PlaceHolder 4"/>
          <p:cNvSpPr>
            <a:spLocks noGrp="1"/>
          </p:cNvSpPr>
          <p:nvPr>
            <p:ph type="sldNum" idx="83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FC1E7DC4-0A08-4152-BB06-5D9DC982D1C5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PlaceHolder 5"/>
          <p:cNvSpPr>
            <a:spLocks noGrp="1"/>
          </p:cNvSpPr>
          <p:nvPr>
            <p:ph type="dt" idx="84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6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84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85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86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387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388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89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 type="ftr" idx="85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86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481E2073-70B7-4440-8504-99BF0D1515EF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3" name="PlaceHolder 4"/>
          <p:cNvSpPr>
            <a:spLocks noGrp="1"/>
          </p:cNvSpPr>
          <p:nvPr>
            <p:ph type="dt" idx="87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4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6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398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399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00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401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402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403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ftr" idx="88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PlaceHolder 4"/>
          <p:cNvSpPr>
            <a:spLocks noGrp="1"/>
          </p:cNvSpPr>
          <p:nvPr>
            <p:ph type="sldNum" idx="89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889DD95A-72F1-4E4A-B33E-C1D225B20CB1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8" name="PlaceHolder 5"/>
          <p:cNvSpPr>
            <a:spLocks noGrp="1"/>
          </p:cNvSpPr>
          <p:nvPr>
            <p:ph type="dt" idx="90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6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bg object 16"/>
          <p:cNvSpPr/>
          <p:nvPr/>
        </p:nvSpPr>
        <p:spPr>
          <a:xfrm>
            <a:off x="290880" y="1073160"/>
            <a:ext cx="431640" cy="466920"/>
          </a:xfrm>
          <a:custGeom>
            <a:avLst/>
            <a:gdLst>
              <a:gd name="textAreaLeft" fmla="*/ 0 w 431640"/>
              <a:gd name="textAreaRight" fmla="*/ 434520 w 431640"/>
              <a:gd name="textAreaTop" fmla="*/ 0 h 466920"/>
              <a:gd name="textAreaBottom" fmla="*/ 469800 h 46692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412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640" cy="466920"/>
          </a:xfrm>
          <a:prstGeom prst="rect">
            <a:avLst/>
          </a:prstGeom>
          <a:ln w="0">
            <a:noFill/>
          </a:ln>
        </p:spPr>
      </p:pic>
      <p:sp>
        <p:nvSpPr>
          <p:cNvPr id="413" name="bg object 18"/>
          <p:cNvSpPr/>
          <p:nvPr/>
        </p:nvSpPr>
        <p:spPr>
          <a:xfrm>
            <a:off x="414000" y="1492200"/>
            <a:ext cx="420120" cy="468360"/>
          </a:xfrm>
          <a:custGeom>
            <a:avLst/>
            <a:gdLst>
              <a:gd name="textAreaLeft" fmla="*/ 0 w 420120"/>
              <a:gd name="textAreaRight" fmla="*/ 423000 w 420120"/>
              <a:gd name="textAreaTop" fmla="*/ 0 h 468360"/>
              <a:gd name="textAreaBottom" fmla="*/ 471240 h 46836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14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400" cy="468360"/>
          </a:xfrm>
          <a:prstGeom prst="rect">
            <a:avLst/>
          </a:prstGeom>
          <a:ln w="0">
            <a:noFill/>
          </a:ln>
        </p:spPr>
      </p:pic>
      <p:pic>
        <p:nvPicPr>
          <p:cNvPr id="415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7280" cy="418680"/>
          </a:xfrm>
          <a:prstGeom prst="rect">
            <a:avLst/>
          </a:prstGeom>
          <a:ln w="0">
            <a:noFill/>
          </a:ln>
        </p:spPr>
      </p:pic>
      <p:sp>
        <p:nvSpPr>
          <p:cNvPr id="416" name="bg object 21"/>
          <p:cNvSpPr/>
          <p:nvPr/>
        </p:nvSpPr>
        <p:spPr>
          <a:xfrm>
            <a:off x="635040" y="965160"/>
            <a:ext cx="28800" cy="1046160"/>
          </a:xfrm>
          <a:custGeom>
            <a:avLst/>
            <a:gdLst>
              <a:gd name="textAreaLeft" fmla="*/ 0 w 28800"/>
              <a:gd name="textAreaRight" fmla="*/ 31680 w 28800"/>
              <a:gd name="textAreaTop" fmla="*/ 0 h 1046160"/>
              <a:gd name="textAreaBottom" fmla="*/ 1049040 h 104616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pic>
        <p:nvPicPr>
          <p:cNvPr id="417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360" cy="51840"/>
          </a:xfrm>
          <a:prstGeom prst="rect">
            <a:avLst/>
          </a:prstGeom>
          <a:ln w="0">
            <a:noFill/>
          </a:ln>
        </p:spPr>
      </p:pic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ftr" idx="91"/>
          </p:nvPr>
        </p:nvSpPr>
        <p:spPr>
          <a:xfrm>
            <a:off x="3635640" y="7027560"/>
            <a:ext cx="341892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sldNum" idx="92"/>
          </p:nvPr>
        </p:nvSpPr>
        <p:spPr>
          <a:xfrm>
            <a:off x="10069920" y="7229160"/>
            <a:ext cx="543240" cy="36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CF9D92E7-011D-4EE1-9B62-FD018437462B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 type="dt" idx="93"/>
          </p:nvPr>
        </p:nvSpPr>
        <p:spPr>
          <a:xfrm>
            <a:off x="534600" y="7027560"/>
            <a:ext cx="2456640" cy="3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6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bg object 16"/>
          <p:cNvSpPr/>
          <p:nvPr/>
        </p:nvSpPr>
        <p:spPr>
          <a:xfrm>
            <a:off x="290880" y="1073160"/>
            <a:ext cx="431280" cy="466560"/>
          </a:xfrm>
          <a:custGeom>
            <a:avLst/>
            <a:gdLst>
              <a:gd name="textAreaLeft" fmla="*/ 0 w 431280"/>
              <a:gd name="textAreaRight" fmla="*/ 434520 w 431280"/>
              <a:gd name="textAreaTop" fmla="*/ 0 h 466560"/>
              <a:gd name="textAreaBottom" fmla="*/ 469800 h 466560"/>
            </a:gdLst>
            <a:ahLst/>
            <a:rect l="textAreaLeft" t="textAreaTop" r="textAreaRight" b="textAreaBottom"/>
            <a:pathLst>
              <a:path w="434340" h="469900">
                <a:moveTo>
                  <a:pt x="434340" y="0"/>
                </a:moveTo>
                <a:lnTo>
                  <a:pt x="0" y="0"/>
                </a:lnTo>
                <a:lnTo>
                  <a:pt x="0" y="469900"/>
                </a:lnTo>
                <a:lnTo>
                  <a:pt x="434340" y="469900"/>
                </a:lnTo>
                <a:lnTo>
                  <a:pt x="434340" y="0"/>
                </a:lnTo>
                <a:close/>
              </a:path>
            </a:pathLst>
          </a:custGeom>
          <a:solidFill>
            <a:srgbClr val="3333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26" name="bg object 17" descr=""/>
          <p:cNvPicPr/>
          <p:nvPr/>
        </p:nvPicPr>
        <p:blipFill>
          <a:blip r:embed="rId2"/>
          <a:stretch/>
        </p:blipFill>
        <p:spPr>
          <a:xfrm>
            <a:off x="670680" y="1073160"/>
            <a:ext cx="323280" cy="466560"/>
          </a:xfrm>
          <a:prstGeom prst="rect">
            <a:avLst/>
          </a:prstGeom>
          <a:ln w="0">
            <a:noFill/>
          </a:ln>
        </p:spPr>
      </p:pic>
      <p:sp>
        <p:nvSpPr>
          <p:cNvPr id="427" name="bg object 18"/>
          <p:cNvSpPr/>
          <p:nvPr/>
        </p:nvSpPr>
        <p:spPr>
          <a:xfrm>
            <a:off x="414000" y="1492200"/>
            <a:ext cx="419760" cy="468000"/>
          </a:xfrm>
          <a:custGeom>
            <a:avLst/>
            <a:gdLst>
              <a:gd name="textAreaLeft" fmla="*/ 0 w 419760"/>
              <a:gd name="textAreaRight" fmla="*/ 423000 w 419760"/>
              <a:gd name="textAreaTop" fmla="*/ 0 h 468000"/>
              <a:gd name="textAreaBottom" fmla="*/ 471240 h 468000"/>
            </a:gdLst>
            <a:ahLst/>
            <a:rect l="textAreaLeft" t="textAreaTop" r="textAreaRight" b="textAreaBottom"/>
            <a:pathLst>
              <a:path w="422909" h="471169">
                <a:moveTo>
                  <a:pt x="422910" y="0"/>
                </a:moveTo>
                <a:lnTo>
                  <a:pt x="0" y="0"/>
                </a:lnTo>
                <a:lnTo>
                  <a:pt x="0" y="469900"/>
                </a:lnTo>
                <a:lnTo>
                  <a:pt x="622" y="469900"/>
                </a:lnTo>
                <a:lnTo>
                  <a:pt x="622" y="471170"/>
                </a:lnTo>
                <a:lnTo>
                  <a:pt x="422275" y="471170"/>
                </a:lnTo>
                <a:lnTo>
                  <a:pt x="422275" y="469900"/>
                </a:lnTo>
                <a:lnTo>
                  <a:pt x="422910" y="469900"/>
                </a:lnTo>
                <a:lnTo>
                  <a:pt x="422910" y="0"/>
                </a:lnTo>
                <a:close/>
              </a:path>
            </a:pathLst>
          </a:custGeom>
          <a:solidFill>
            <a:srgbClr val="ffce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8" name="bg object 19" descr=""/>
          <p:cNvPicPr/>
          <p:nvPr/>
        </p:nvPicPr>
        <p:blipFill>
          <a:blip r:embed="rId3"/>
          <a:stretch/>
        </p:blipFill>
        <p:spPr>
          <a:xfrm>
            <a:off x="781200" y="1492200"/>
            <a:ext cx="365040" cy="468000"/>
          </a:xfrm>
          <a:prstGeom prst="rect">
            <a:avLst/>
          </a:prstGeom>
          <a:ln w="0">
            <a:noFill/>
          </a:ln>
        </p:spPr>
      </p:pic>
      <p:pic>
        <p:nvPicPr>
          <p:cNvPr id="429" name="bg object 20" descr=""/>
          <p:cNvPicPr/>
          <p:nvPr/>
        </p:nvPicPr>
        <p:blipFill>
          <a:blip r:embed="rId4"/>
          <a:stretch/>
        </p:blipFill>
        <p:spPr>
          <a:xfrm>
            <a:off x="0" y="1743840"/>
            <a:ext cx="556920" cy="418320"/>
          </a:xfrm>
          <a:prstGeom prst="rect">
            <a:avLst/>
          </a:prstGeom>
          <a:ln w="0">
            <a:noFill/>
          </a:ln>
        </p:spPr>
      </p:pic>
      <p:sp>
        <p:nvSpPr>
          <p:cNvPr id="430" name="bg object 21"/>
          <p:cNvSpPr/>
          <p:nvPr/>
        </p:nvSpPr>
        <p:spPr>
          <a:xfrm>
            <a:off x="635040" y="965160"/>
            <a:ext cx="28440" cy="1045800"/>
          </a:xfrm>
          <a:custGeom>
            <a:avLst/>
            <a:gdLst>
              <a:gd name="textAreaLeft" fmla="*/ 0 w 28440"/>
              <a:gd name="textAreaRight" fmla="*/ 31680 w 28440"/>
              <a:gd name="textAreaTop" fmla="*/ 0 h 1045800"/>
              <a:gd name="textAreaBottom" fmla="*/ 1049040 h 1045800"/>
            </a:gdLst>
            <a:ahLst/>
            <a:rect l="textAreaLeft" t="textAreaTop" r="textAreaRight" b="textAreaBottom"/>
            <a:pathLst>
              <a:path w="31750" h="1049020">
                <a:moveTo>
                  <a:pt x="31750" y="0"/>
                </a:moveTo>
                <a:lnTo>
                  <a:pt x="0" y="0"/>
                </a:lnTo>
                <a:lnTo>
                  <a:pt x="0" y="1049020"/>
                </a:lnTo>
                <a:lnTo>
                  <a:pt x="31750" y="1049020"/>
                </a:lnTo>
                <a:lnTo>
                  <a:pt x="31750" y="0"/>
                </a:lnTo>
                <a:close/>
              </a:path>
            </a:pathLst>
          </a:custGeom>
          <a:solidFill>
            <a:srgbClr val="1b1b1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1" name="bg object 22" descr=""/>
          <p:cNvPicPr/>
          <p:nvPr/>
        </p:nvPicPr>
        <p:blipFill>
          <a:blip r:embed="rId5"/>
          <a:stretch/>
        </p:blipFill>
        <p:spPr>
          <a:xfrm>
            <a:off x="350640" y="1857960"/>
            <a:ext cx="8685000" cy="51480"/>
          </a:xfrm>
          <a:prstGeom prst="rect">
            <a:avLst/>
          </a:prstGeom>
          <a:ln w="0">
            <a:noFill/>
          </a:ln>
        </p:spPr>
      </p:pic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ftr" idx="94"/>
          </p:nvPr>
        </p:nvSpPr>
        <p:spPr>
          <a:xfrm>
            <a:off x="3635640" y="7027560"/>
            <a:ext cx="3418560" cy="3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 type="sldNum" idx="95"/>
          </p:nvPr>
        </p:nvSpPr>
        <p:spPr>
          <a:xfrm>
            <a:off x="10069920" y="7229160"/>
            <a:ext cx="54288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CCBAEA7E-58D3-4592-984D-D14FE8E8ABF8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6" name="PlaceHolder 5"/>
          <p:cNvSpPr>
            <a:spLocks noGrp="1"/>
          </p:cNvSpPr>
          <p:nvPr>
            <p:ph type="dt" idx="96"/>
          </p:nvPr>
        </p:nvSpPr>
        <p:spPr>
          <a:xfrm>
            <a:off x="534600" y="7027560"/>
            <a:ext cx="2456280" cy="3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mailto:david.thibau@gmail.com" TargetMode="External"/><Relationship Id="rId2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1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1.xml"/>
</Relationships>
</file>

<file path=ppt/slides/_rels/slide1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1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2.xml"/>
</Relationships>
</file>

<file path=ppt/slides/_rels/slide1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1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_rels/slide1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object 2" descr=""/>
          <p:cNvPicPr/>
          <p:nvPr/>
        </p:nvPicPr>
        <p:blipFill>
          <a:blip r:embed="rId1"/>
          <a:stretch/>
        </p:blipFill>
        <p:spPr>
          <a:xfrm>
            <a:off x="1547640" y="2889360"/>
            <a:ext cx="7282800" cy="3126240"/>
          </a:xfrm>
          <a:prstGeom prst="rect">
            <a:avLst/>
          </a:prstGeom>
          <a:ln w="0">
            <a:noFill/>
          </a:ln>
        </p:spPr>
      </p:pic>
      <p:sp>
        <p:nvSpPr>
          <p:cNvPr id="440" name="PlaceHolder 1"/>
          <p:cNvSpPr>
            <a:spLocks noGrp="1"/>
          </p:cNvSpPr>
          <p:nvPr>
            <p:ph type="sldNum" idx="97"/>
          </p:nvPr>
        </p:nvSpPr>
        <p:spPr>
          <a:xfrm>
            <a:off x="10069920" y="7229160"/>
            <a:ext cx="543240" cy="438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2C24D89B-EBE0-4408-AB9D-C8302FE2F343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1164600" y="509040"/>
            <a:ext cx="8354880" cy="1329840"/>
          </a:xfrm>
          <a:prstGeom prst="rect">
            <a:avLst/>
          </a:prstGeom>
          <a:noFill/>
          <a:ln w="0">
            <a:noFill/>
          </a:ln>
        </p:spPr>
        <p:txBody>
          <a:bodyPr lIns="0" rIns="0" tIns="59760" bIns="0" anchor="t">
            <a:noAutofit/>
          </a:bodyPr>
          <a:p>
            <a:pPr indent="0" algn="ctr">
              <a:lnSpc>
                <a:spcPts val="5009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chemeClr val="dk1"/>
                </a:solidFill>
                <a:latin typeface="Arial"/>
              </a:rPr>
              <a:t>Liferay 7.x - Développer un portail d'entreprise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sldNum" idx="98"/>
          </p:nvPr>
        </p:nvSpPr>
        <p:spPr>
          <a:xfrm>
            <a:off x="10069920" y="7229160"/>
            <a:ext cx="543240" cy="438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4308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52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43080" indent="0">
              <a:lnSpc>
                <a:spcPts val="2721"/>
              </a:lnSpc>
              <a:buNone/>
              <a:tabLst>
                <a:tab algn="l" pos="0"/>
              </a:tabLst>
            </a:pPr>
            <a:fld id="{40AACDF9-F230-4464-9195-73CA48029144}" type="slidenum">
              <a:rPr b="0" lang="fr-FR" sz="2400" spc="-52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3" name="object 3"/>
          <p:cNvSpPr/>
          <p:nvPr/>
        </p:nvSpPr>
        <p:spPr>
          <a:xfrm>
            <a:off x="1593720" y="3696840"/>
            <a:ext cx="7512120" cy="150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448200" algn="ctr">
              <a:lnSpc>
                <a:spcPct val="100000"/>
              </a:lnSpc>
              <a:spcBef>
                <a:spcPts val="99"/>
              </a:spcBef>
            </a:pPr>
            <a:r>
              <a:rPr b="0" lang="fr-FR" sz="3200" spc="182" strike="noStrike">
                <a:solidFill>
                  <a:srgbClr val="000000"/>
                </a:solidFill>
                <a:latin typeface="Arial"/>
                <a:ea typeface="DejaVu Sans"/>
              </a:rPr>
              <a:t>David</a:t>
            </a:r>
            <a:r>
              <a:rPr b="0" lang="fr-FR" sz="3200" spc="12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THIBAU</a:t>
            </a:r>
            <a:r>
              <a:rPr b="0" lang="fr-FR" sz="3200" spc="12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–</a:t>
            </a:r>
            <a:r>
              <a:rPr b="0" lang="fr-FR" sz="3200" spc="128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fr-FR" sz="3200" spc="202" strike="noStrike">
                <a:solidFill>
                  <a:srgbClr val="000000"/>
                </a:solidFill>
                <a:latin typeface="Arial"/>
                <a:ea typeface="DejaVu Sans"/>
              </a:rPr>
              <a:t>2025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48200" algn="ctr">
              <a:lnSpc>
                <a:spcPct val="100000"/>
              </a:lnSpc>
              <a:spcBef>
                <a:spcPts val="99"/>
              </a:spcBef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48200" algn="ctr">
              <a:lnSpc>
                <a:spcPct val="100000"/>
              </a:lnSpc>
              <a:spcBef>
                <a:spcPts val="99"/>
              </a:spcBef>
            </a:pPr>
            <a:r>
              <a:rPr b="0" lang="fr-FR" sz="3200" spc="182" strike="noStrike" u="sng">
                <a:solidFill>
                  <a:srgbClr val="0000ff"/>
                </a:solidFill>
                <a:uFillTx/>
                <a:latin typeface="Arial"/>
                <a:ea typeface="DejaVu Sans"/>
                <a:hlinkClick r:id="rId1"/>
              </a:rPr>
              <a:t>david.thibau@gmail.com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1090800" y="114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Agenda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410976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000000"/>
                </a:solidFill>
                <a:latin typeface="Calibri"/>
              </a:rPr>
              <a:t>Fondamentaux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Panorama Liferay DXP / Portal 7.4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Installation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Sites, Pages, Navigation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CMS 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000000"/>
                </a:solidFill>
                <a:latin typeface="Calibri"/>
              </a:rPr>
              <a:t>Administration, Exploitation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Base de données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Configuration, logs, sessions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Exploitation modules OSGI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Patching et mise à jour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Environnements, Staging, Import/Export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/>
          </p:nvPr>
        </p:nvSpPr>
        <p:spPr>
          <a:xfrm>
            <a:off x="5406480" y="2083320"/>
            <a:ext cx="410976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000000"/>
                </a:solidFill>
                <a:latin typeface="Calibri"/>
              </a:rPr>
              <a:t>Développement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Mise en place IDE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Développement Portlet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Service Builder et Rest Builder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Sécurité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Extensions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Panorama Liferay DXP / Portal 7.4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Installation</a:t>
            </a: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Site, pages, navigation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CMS : web content, templates, documents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Portail et Digital Experience Platform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Un </a:t>
            </a:r>
            <a:r>
              <a:rPr b="1" lang="fr-FR" sz="2400" spc="-1" strike="noStrike">
                <a:solidFill>
                  <a:srgbClr val="090b5e"/>
                </a:solidFill>
                <a:latin typeface="Calibri"/>
              </a:rPr>
              <a:t>portail d’entreprise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est une plate-forme web qui centralise l’accès aux applications, contenus et services numériques de l’organisation.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Une </a:t>
            </a:r>
            <a:r>
              <a:rPr b="1" lang="fr-FR" sz="2400" spc="-1" strike="noStrike">
                <a:solidFill>
                  <a:srgbClr val="090b5e"/>
                </a:solidFill>
                <a:latin typeface="Calibri"/>
              </a:rPr>
              <a:t>« Digital Experience Platform (DXP) »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ajoute à ces fonctions des capacités avancées : personnalisation, APIs, intégration </a:t>
            </a:r>
            <a:r>
              <a:rPr b="0" i="1" lang="fr-FR" sz="2400" spc="-1" strike="noStrike">
                <a:solidFill>
                  <a:srgbClr val="000000"/>
                </a:solidFill>
                <a:latin typeface="Calibri"/>
              </a:rPr>
              <a:t>omnicanal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(web, mobile, applications tierces).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L’objectif est de fournir à chaque utilisateur (client, partenaire, collaborateur) une expérience unifiée malgré la diversité des systèmes sous-jacents.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Fonctions clés d’un portail d’entreprise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100" spc="-1" strike="noStrike">
                <a:solidFill>
                  <a:srgbClr val="1511ac"/>
                </a:solidFill>
                <a:latin typeface="Calibri"/>
              </a:rPr>
              <a:t>Agrégation de contenus et d’applications 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: tableau de bord, pages composites, vue synthétique d’indicateurs issus de plusieurs systèmes.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pc="-1" strike="noStrike">
                <a:solidFill>
                  <a:srgbClr val="1511ac"/>
                </a:solidFill>
                <a:latin typeface="Calibri"/>
              </a:rPr>
              <a:t>Administration centralisée 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: gestion des utilisateurs, des rôles, des droits d’accès et des espaces (sites, communautés, organisations).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100" spc="-1" strike="noStrike">
                <a:solidFill>
                  <a:srgbClr val="1511ac"/>
                </a:solidFill>
                <a:latin typeface="Calibri"/>
              </a:rPr>
              <a:t>Cadre d’architecture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 : normes, modèles de développement et de sécurité homogènes pour les applications intégrées au portail.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Personnalisation, identité et SSO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200" spc="-1" strike="noStrike">
                <a:solidFill>
                  <a:srgbClr val="1511ac"/>
                </a:solidFill>
                <a:latin typeface="Calibri"/>
              </a:rPr>
              <a:t>Personnalisation par profil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: chaque utilisateur appartient à un ou plusieurs rôles, qui conditionnent les contenus visibles et les fonctionnalités disponibles.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200" spc="-1" strike="noStrike">
                <a:solidFill>
                  <a:srgbClr val="1511ac"/>
                </a:solidFill>
                <a:latin typeface="Calibri"/>
              </a:rPr>
              <a:t>Personnalisation par préférences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: choix des applications affichées, agencement des portlets, sélection d’un thème graphique.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200" spc="-1" strike="noStrike">
                <a:solidFill>
                  <a:srgbClr val="1511ac"/>
                </a:solidFill>
                <a:latin typeface="Calibri"/>
              </a:rPr>
              <a:t>Identité et SSO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L’authentification s’appuie sur un référentiel central (annuaire LDAP ou IdP type Azure AD / Keycloak).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Le portail met en œuvre des standards de Single Sign-On : SAML2, OpenID Connect, OAuth2, permettant à l’utilisateur de s’authentifier une fois et d’accéder à plusieurs applications.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1090800" y="678960"/>
            <a:ext cx="8508600" cy="90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Modes d’intégration d’applications et de contenus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Applications intégrées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dans le portail (modules / portlets / remote apps) développées selon le modèle technique de la plate-forme.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Intégration légère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liens vers des applications externes,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iframes ou widgets intégrés dans les pages,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flux RSS/Atom pour remonter des actualités ou contenus éditoriaux.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Intégration par APIs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consommation ou exposition de services REST/JSON pour échanger des données avec des applications métier, ERP, CRM, etc.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sécurisation via OAuth2 lorsque les APIs sont exposées à des applications externes.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Positionnement de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Liferay DXP (édition entreprise)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: plate-forme commerciale avec support, mises à jour contrôlées et fonctionnalités avancées (notamment Commerce et certains connecteurs).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Liferay Portal CE (Community Edition)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: édition communautaire libre (LGPL), adaptée aux projets moins critiques ou aux phases d’étude.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Dans les deux cas, Liferay fournit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un noyau portail,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des fonctionnalités CMS,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des fonctions de collaboration et de gestion d’accès,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des APIs headless pour l’intégration avec des applications externes.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1090800" y="660600"/>
            <a:ext cx="850860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Liferay comme CMS et plate-forme collaborative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CMS intégré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gestion des pages, des gabarits, des contenus web,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workflow éditorial, staging, planification de publication,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taxonomies, tags, segmentation.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Collaboration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blogs, wikis, forums, agendas, bibliothèque documentaire,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communautés internes ou externes,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fonctionnalités sociales (suivi, notifications, commentaires).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Liferay comme plate-forme d’intégration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Liferay joue le rôle de couche d’exposition des données et services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200" spc="-1" strike="noStrike">
                <a:solidFill>
                  <a:srgbClr val="090b5e"/>
                </a:solidFill>
                <a:latin typeface="Calibri"/>
              </a:rPr>
              <a:t>APIs REST headless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pour la plupart des fonctionnalités standard.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200" spc="-1" strike="noStrike">
                <a:solidFill>
                  <a:srgbClr val="090b5e"/>
                </a:solidFill>
                <a:latin typeface="Calibri"/>
              </a:rPr>
              <a:t>Connecteurs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et intégrations avec des systèmes tiers (ERP, CRM, GED, moteurs de recherche).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La recherche full-text s’appuie sur Elasticsearch / OpenSearch avec indexation des contenus, documents et données applicatives.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Liferay pour les développeurs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Modèle de développement basé sur des </a:t>
            </a: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modules OSGi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modules MVC portlet,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modules Service Builder pour la couche de services,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modules REST Builder pour exposer des APIs headless.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Couche présentation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taglibs Liferay + AlloyUI + Clay pour l’interface,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Remote Apps (React/Angular…) pour des applications full-JS.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Extension et personnalisation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Configuration par modules, thèmes, fragment modules,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Intégration SSO (SAML, OIDC) et sécurisation OAuth2 pour les APIs.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Panorama Liferay DXP / Portal 7.4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Installation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Site, pages, navigation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CMS : web content, templates, documents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Pré-requis pour l’installation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42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000" spc="-1" strike="noStrike">
                <a:solidFill>
                  <a:srgbClr val="000000"/>
                </a:solidFill>
                <a:latin typeface="Calibri"/>
              </a:rPr>
              <a:t>Système d’exploitation :  Linux, Windows, macOS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Minimum recommandé : 2 CPU, 4 Go RAM (8 Go recommandé pour production), 10 Go disque libre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000" spc="-1" strike="noStrike">
                <a:solidFill>
                  <a:srgbClr val="000000"/>
                </a:solidFill>
                <a:latin typeface="Calibri"/>
              </a:rPr>
              <a:t>Java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JDK17 ou 21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Variable d’environnement : JAVA_HOME correctement configurée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000" spc="-1" strike="noStrike">
                <a:solidFill>
                  <a:srgbClr val="000000"/>
                </a:solidFill>
                <a:latin typeface="Calibri"/>
              </a:rPr>
              <a:t>Base de données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MySQL / MariaDB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PostgreSQL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Oracle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SQL Server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Embedded HSQLDB disponible uniquement pour tests / dev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000" spc="-1" strike="noStrike">
                <a:solidFill>
                  <a:srgbClr val="000000"/>
                </a:solidFill>
                <a:latin typeface="Calibri"/>
              </a:rPr>
              <a:t>Préparer la base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Créer un utilisateur dédié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Accorder droits CREATE / UPDATE / DELETE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Télécharger et installer un bundle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45648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Télécharger le bundle Liferay 7.4 Tomcat (DXP ou Portal CE) depuis le site officiel.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Décompresser l’archive dans un répertoire dédié, qui devient le Liferay Home.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Vérifier la variable d’environnement JAVA_HOME et le chemin du JDK.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Structure de Liferay Home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Le dossier racine contient notamment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600" spc="-1" strike="noStrike">
                <a:solidFill>
                  <a:srgbClr val="1511ac"/>
                </a:solidFill>
                <a:latin typeface="Calibri"/>
              </a:rPr>
              <a:t>data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: données persistées par Liferay (documents, configuration, éventuelle base de démonstration) ;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600" spc="-1" strike="noStrike">
                <a:solidFill>
                  <a:srgbClr val="1511ac"/>
                </a:solidFill>
                <a:latin typeface="Calibri"/>
              </a:rPr>
              <a:t>deploy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: répertoire pour le déploiement automatique de modules/LPKG ;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600" spc="-1" strike="noStrike">
                <a:solidFill>
                  <a:srgbClr val="1511ac"/>
                </a:solidFill>
                <a:latin typeface="Calibri"/>
              </a:rPr>
              <a:t>logs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: journaux applicatifs ;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600" spc="-1" strike="noStrike">
                <a:solidFill>
                  <a:srgbClr val="1511ac"/>
                </a:solidFill>
                <a:latin typeface="Calibri"/>
              </a:rPr>
              <a:t>osgi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: modules standard et extensions déployées.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Cette structure est commune quel que soit le serveur applicatif sous-jacent.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Démarrage et assistant de configuration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Lancer le serveur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sous Linux : </a:t>
            </a: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./tomcat-*/bin/startup.sh,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sous Windows : </a:t>
            </a: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tomcat-*\bin\startup.bat.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Accès au portail via http://localhost:8080.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À la première connexion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choix de la langue et du nom du portail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création du compte administrateur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configuration de la base de données (base embarquée pour les TPs ou base dédiée de développement).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Alternative Docker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Liferay fournit des images Docker facilitant l’installation en environnement isolé.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Intérêt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Reproductibilité de l’environnement ;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Gestion simplifiée pour les ateliers lorsqu’un moteur Docker est disponible.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540000" y="684000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 : Installation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Panorama Liferay DXP / Portal 7.4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Installation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Site, pages, navigation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CMS : web content, templates, documents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Company (Instance Liferay)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534600" y="2091960"/>
            <a:ext cx="96220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 lnSpcReduction="1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Une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Company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représente une instance Liferay (tenant)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point d’entrée du portail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périmètre de sécurité et de configuration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racine de tous les sites, utilisateurs et rôles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 serveur Liferay peut héberger plusieurs </a:t>
            </a: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Company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, mais dans la majorité des projets :</a:t>
            </a:r>
            <a:br>
              <a:rPr sz="3200"/>
            </a:b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1 serveur = 1 Company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Rôle de la Company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/>
          </p:nvPr>
        </p:nvSpPr>
        <p:spPr>
          <a:xfrm>
            <a:off x="534600" y="1989720"/>
            <a:ext cx="962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Définit :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 site par défaut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 nom du portail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les paramètres globaux (authentification, sécurité, timeout…)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Contient :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les utilisateurs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les sites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les rôles globaux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Table : </a:t>
            </a:r>
            <a:r>
              <a:rPr b="1" i="1" lang="fr-FR" sz="4800" spc="-1" strike="noStrike">
                <a:solidFill>
                  <a:srgbClr val="1a2fad"/>
                </a:solidFill>
                <a:latin typeface="Arial"/>
              </a:rPr>
              <a:t>company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Utilisateurs dans Liferay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/>
          </p:nvPr>
        </p:nvSpPr>
        <p:spPr>
          <a:xfrm>
            <a:off x="540000" y="2278080"/>
            <a:ext cx="9622080" cy="49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 utilisateur représente une personne accédant au portail.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appartient à une Company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peut être membre de plusieurs sites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 voit attribuer un ou plusieurs rôles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Utilisateur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anonyme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non authentifié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accès aux pages publiques uniquement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Utilisateur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authentifié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accès selon ses rôles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Administrateur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gestion des sites, utilisateurs et configurations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Regroupement des utilisateurs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534600" y="1947960"/>
            <a:ext cx="96220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111"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utilisateurs peuvent optionnellement être associés à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organisations 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: structure hiérarchique métier 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Par exemple : Direction, Département, Filiale, Equipe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Peut contenir des utilisateurs ou des sous-organisation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Modélise l’entreprise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groupes 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: Un groupe transversal non hiérarchique 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Par exemple : Rédacteur, Chef de projet, etc..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Sert à affecter des rôles en masse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Simplifie la gestion des utilisateurs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Rôle et permissions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2"/>
          <p:cNvSpPr>
            <a:spLocks noGrp="1"/>
          </p:cNvSpPr>
          <p:nvPr>
            <p:ph/>
          </p:nvPr>
        </p:nvSpPr>
        <p:spPr>
          <a:xfrm>
            <a:off x="534600" y="1983960"/>
            <a:ext cx="96220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 utilisateur n’a pas de droits en direct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droits sont toujours portés par des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rôles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 même utilisateur peut jouer plusieurs rôles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 rôle est un ensemble de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permissions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permissions définissent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Ce que l’on peut faire (voir, créer, modifier…)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Sur quoi (site, page, contenu, application)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Principaux types de rôles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534600" y="1947960"/>
            <a:ext cx="9622080" cy="52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8888"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L’interface Liferay distingue plusieurs types de rôles, chacun avec une portée précise.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Rôles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réguliers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(Regular Roles)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Portée : Globale à la Company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Usage : Accès à l’administration, Accès transversal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Rôles de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site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(Site Roles)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Portée : Limitée à un site donné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Usage : Droits sur les pages, contenus, staging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Exemples : Administrateur de site, Éditeur, Contributeur, Membre du site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Rôles </a:t>
            </a:r>
            <a:r>
              <a:rPr b="1" lang="fr-FR" sz="3200" spc="-1" strike="noStrike">
                <a:solidFill>
                  <a:srgbClr val="1a2fad"/>
                </a:solidFill>
                <a:latin typeface="Arial"/>
              </a:rPr>
              <a:t>d’organisation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(Organization Roles)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Portée : Limitée à une organisation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Usage : Gestion des utilisateurs d’une entité métier, Délégation administrative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Exemple : Administrateur d’organisation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sites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 lnSpcReduction="10000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Un </a:t>
            </a:r>
            <a:r>
              <a:rPr b="1" lang="fr-FR" sz="2800" spc="-1" strike="noStrike">
                <a:solidFill>
                  <a:srgbClr val="1a2fad"/>
                </a:solidFill>
                <a:latin typeface="Calibri"/>
              </a:rPr>
              <a:t>site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Liferay est un espace fonctionnel autonome qui regroupe des pages, des contenus et des utilisateurs, avec ses propres règles d’accès et de publication.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Structure le portail en domaines fonctionnels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Sépare espaces publics et privés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Gère le multilingue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Définit des équipes locales, incluant des attributions (rôles)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Accueille des contenus spécifiques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Types de Sites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8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100" spc="-1" strike="noStrike">
                <a:solidFill>
                  <a:srgbClr val="090b5e"/>
                </a:solidFill>
                <a:latin typeface="Calibri"/>
              </a:rPr>
              <a:t>Sites Publics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Visibles par tous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Pages publiques / navigation publique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100" spc="-1" strike="noStrike">
                <a:solidFill>
                  <a:srgbClr val="090b5e"/>
                </a:solidFill>
                <a:latin typeface="Calibri"/>
              </a:rPr>
              <a:t>Sites Privés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Accessibles seulement à un sous-ensemble d’utilisateurs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100" spc="-1" strike="noStrike">
                <a:solidFill>
                  <a:srgbClr val="090b5e"/>
                </a:solidFill>
                <a:latin typeface="Calibri"/>
              </a:rPr>
              <a:t>Site Global (Global Group)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Contenus transverses, tags globaux, documents partagés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100" spc="-1" strike="noStrike">
                <a:solidFill>
                  <a:srgbClr val="090b5e"/>
                </a:solidFill>
                <a:latin typeface="Calibri"/>
              </a:rPr>
              <a:t>Sites Organisationnels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Liés aux structures hiérarchiques de l’entreprise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Tables BD d’un Site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6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600" spc="-1" strike="noStrike">
                <a:solidFill>
                  <a:srgbClr val="1511ac"/>
                </a:solidFill>
                <a:latin typeface="Calibri"/>
              </a:rPr>
              <a:t>Table Group_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: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Représente un </a:t>
            </a:r>
            <a:r>
              <a:rPr b="1" lang="fr-FR" sz="1600" spc="-1" strike="noStrike">
                <a:solidFill>
                  <a:srgbClr val="090b5e"/>
                </a:solidFill>
                <a:latin typeface="Calibri"/>
              </a:rPr>
              <a:t>site, un espace, une communauté ou une organisation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. La colonne classNameId + le champ type permettent d’identifier qu’il s’agit d’un Site.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600" spc="-1" strike="noStrike">
                <a:solidFill>
                  <a:srgbClr val="1511ac"/>
                </a:solidFill>
                <a:latin typeface="Calibri"/>
              </a:rPr>
              <a:t>Table Layout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 : Chaque entrée correspond à une </a:t>
            </a:r>
            <a:r>
              <a:rPr b="1" lang="fr-FR" sz="1600" spc="-1" strike="noStrike">
                <a:solidFill>
                  <a:srgbClr val="090b5e"/>
                </a:solidFill>
                <a:latin typeface="Calibri"/>
              </a:rPr>
              <a:t>page (publique ou privée)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. Contient les informations structurelles : URL, template, widgets placés, hiérarchie…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600" spc="-1" strike="noStrike">
                <a:solidFill>
                  <a:srgbClr val="1511ac"/>
                </a:solidFill>
                <a:latin typeface="Calibri"/>
              </a:rPr>
              <a:t>Table LayoutSet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 : Définit </a:t>
            </a:r>
            <a:r>
              <a:rPr b="1" lang="fr-FR" sz="1600" spc="-1" strike="noStrike">
                <a:solidFill>
                  <a:srgbClr val="090b5e"/>
                </a:solidFill>
                <a:latin typeface="Calibri"/>
              </a:rPr>
              <a:t>un ensemble de pages publiques ou privées pour un site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. Stocke aussi le thème, le look &amp; feel, les paramètres globaux du page set.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600" spc="-1" strike="noStrike">
                <a:solidFill>
                  <a:srgbClr val="1511ac"/>
                </a:solidFill>
                <a:latin typeface="Calibri"/>
              </a:rPr>
              <a:t>Table JournalArticle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 : Stocke les </a:t>
            </a:r>
            <a:r>
              <a:rPr b="1" lang="fr-FR" sz="1600" spc="-1" strike="noStrike">
                <a:solidFill>
                  <a:srgbClr val="090b5e"/>
                </a:solidFill>
                <a:latin typeface="Calibri"/>
              </a:rPr>
              <a:t>Web Contents (articles CMS)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. Contient le XML/JSON du contenu + métadonnées.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1600" spc="-1" strike="noStrike">
                <a:solidFill>
                  <a:srgbClr val="1511ac"/>
                </a:solidFill>
                <a:latin typeface="Calibri"/>
                <a:ea typeface="Noto Sans CJK SC"/>
              </a:rPr>
              <a:t>Table DLFileEntry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Noto Sans CJK SC"/>
              </a:rPr>
              <a:t> : Chaque ligne = un document avec ses métadonnées, versions liées, fichiers binaires en stockage.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  <a:ea typeface="Noto Sans CJK SC"/>
              </a:rPr>
              <a:t>Comprendre ces tables aide à diagnostiquer les erreurs (pages corrompues, URLs cassées, droits incohérents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Master Pages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 lnSpcReduction="10000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Comparable à un “</a:t>
            </a:r>
            <a:r>
              <a:rPr b="1" lang="fr-FR" sz="2100" spc="-1" strike="noStrike">
                <a:solidFill>
                  <a:srgbClr val="090b5e"/>
                </a:solidFill>
                <a:latin typeface="Calibri"/>
              </a:rPr>
              <a:t>gabarit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”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En-tête commun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Pied de page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Éléments répétés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Structure globale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Utilisée pour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Harmoniser plusieurs pages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Déléguer aux équipes métiers la création des pages sans toucher au template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On démarre avec une Master Page : Page vierge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Lors de la création de la page on choisit son gabarit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Création via le menu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i="1" lang="fr-FR" sz="2100" spc="-1" strike="noStrike">
                <a:solidFill>
                  <a:srgbClr val="c9211e"/>
                </a:solidFill>
                <a:latin typeface="Calibri"/>
              </a:rPr>
              <a:t>Conception – Modèles de pages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Pages de contenu dans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6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90b5e"/>
                </a:solidFill>
                <a:latin typeface="Calibri"/>
              </a:rPr>
              <a:t>Widget Pages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Pages historiques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Contiennent des portlets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Mise en page via colonnes / layout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Extrêmement flexibles pour du développement custom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= &gt; Idéal pour les pages dynamiques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90b5e"/>
                </a:solidFill>
                <a:latin typeface="Calibri"/>
              </a:rPr>
              <a:t>Content Pages 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Pages créées avec l’éditeur visuel (React)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Basées sur les fragments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Responsive natif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Pas de portlets par défaut (mais portlets utilisables via fragments portlets)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= &gt; Idéal pour les pages de contenu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Widget Pages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6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Les </a:t>
            </a:r>
            <a:r>
              <a:rPr b="1" lang="fr-FR" sz="2200" spc="-1" strike="noStrike">
                <a:solidFill>
                  <a:srgbClr val="090b5e"/>
                </a:solidFill>
                <a:latin typeface="Calibri"/>
              </a:rPr>
              <a:t>Widget Pages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sont le modèle historique de Liferay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Basées sur des portlets (applications)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Mise en page via layouts en colonnes (1, 2, 3 colonnes, etc.)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Chaque zone de la page accueille une ou plusieurs portlets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Adaptées aux applications métier et écrans riches (portlets custom, listes, formulaires)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Compatibles avec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permissions fines par portlet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configuration par instance (préférences portlet)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personnalisation utilisateur (ajout/retrait de portlets si autorisé)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Content Pages : avantages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Éditeur visuel riche : drag &amp; drop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Aucune compétence technique nécessaire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Reposent sur des fragments réutilisables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Personnalisation par audience (segments)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Intégration des contenus web, media, formulaires Liferay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Recommandé pour les sites CMS modernes.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Structure des pages dans Liferay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Une page est définie par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une Friendly URL (ex : /actualites)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un layout (1 colonne, 2 colonnes, vide…)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une template de base (master page)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des permissions propres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Friendly URLs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Chaque page possède une URL lisible. Exemples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i="1" lang="fr-FR" sz="1600" spc="-1" strike="noStrike">
                <a:solidFill>
                  <a:srgbClr val="000000"/>
                </a:solidFill>
                <a:latin typeface="Calibri"/>
              </a:rPr>
              <a:t>/produits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i="1" lang="fr-FR" sz="1600" spc="-1" strike="noStrike">
                <a:solidFill>
                  <a:srgbClr val="000000"/>
                </a:solidFill>
                <a:latin typeface="Calibri"/>
              </a:rPr>
              <a:t>/contact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i="1" lang="fr-FR" sz="1600" spc="-1" strike="noStrike">
                <a:solidFill>
                  <a:srgbClr val="000000"/>
                </a:solidFill>
                <a:latin typeface="Calibri"/>
              </a:rPr>
              <a:t>/a-propos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Caractéristiques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Automatiques mais modifiables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Déclinables par langue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Influencent le SEO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Uniques dans leur ensemble (public ou privé)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Display Pages (Pages de présentation)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6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Les </a:t>
            </a:r>
            <a:r>
              <a:rPr b="1" lang="fr-FR" sz="3200" spc="-1" strike="noStrike">
                <a:solidFill>
                  <a:srgbClr val="090b5e"/>
                </a:solidFill>
                <a:latin typeface="Calibri"/>
              </a:rPr>
              <a:t>display pages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 servent à afficher un contenu individuel (ex : un article de blog, un événement, une actualité).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Elles sont reliées à une structure de contenu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Sélectionnées automatiquement par Asset Publisher ou widgets équivalents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Permettent un site complètement headless-friendly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c9211e"/>
                </a:solidFill>
                <a:latin typeface="Calibri"/>
              </a:rPr>
              <a:t>Conception – Modèles de page – Modèles de page d’affichage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Redirections et gestion avancée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Possibilités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Redirection vers une URL externe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Redirection vers une autre page du portail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Redirection conditionnelle (Audience Targeting)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Masquer la page dans le menu tout en la laissant accessible via son URL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c9211e"/>
                </a:solidFill>
                <a:latin typeface="Calibri"/>
              </a:rPr>
              <a:t>Nouvelle Page – URL ou Lien vers une page interne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Navigation dans un Site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888" lnSpcReduction="10000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La navigation repose sur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La hiérarchie des pages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La visibilité des pages (public/privé, permissions)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Les menus de navigation configurables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Les “friendly URLs”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Gestion de la hiérarchie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20000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Dans l’UI : </a:t>
            </a:r>
            <a:r>
              <a:rPr b="1" i="1" lang="fr-FR" sz="2800" spc="-1" strike="noStrike">
                <a:solidFill>
                  <a:srgbClr val="c9211e"/>
                </a:solidFill>
                <a:latin typeface="Calibri"/>
              </a:rPr>
              <a:t>Créateur de site – Page de site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Glisser-déposer une page pour changer sa position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Créer des sous-pages pour organiser l'information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Utiliser des pages “conteneurs” non affichées pour structurer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Bonne pratique : Ne jamais créer des dizaines de pages à la racine : segmenter !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Permissions sur les pages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Chaque page peut définir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 peut voir la page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 peut modifier la page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 peut ajouter des sous-pages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Qui peut gérer les applications / fragments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Les </a:t>
            </a: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permissions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sont gérées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au niveau site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au niveau page individuelle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via rôles généraux ou rôles de site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Menus de navigation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43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Deux possibilités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1. Navigation automatique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Basée sur l’arborescence des pages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Recommandée pour sites simples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2. Navigation manuelle  </a:t>
            </a:r>
            <a:r>
              <a:rPr b="1" i="1" lang="fr-FR" sz="2000" spc="-1" strike="noStrike">
                <a:solidFill>
                  <a:srgbClr val="c9211e"/>
                </a:solidFill>
                <a:latin typeface="Calibri"/>
              </a:rPr>
              <a:t>Créateur de site – Menu de navigation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Menus personnalisés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Possibilité de mélanger pages, URLs externes, catégories CMS, etc.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Les menus sont affichés via un fragment de navigation ou un widget Navigation Menu souvent placé dans une Master Page (header)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Organisation recommandée d’un Site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Pour un projet d’entreprise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1 site principal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1 site “documentation / DM” si volumétrique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Pages limitées et hiérarchisées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Master pages pour tout le site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Display pages pour tous les contenus importants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Portlets seulement si besoin métier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Éviter les pièges 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Trop de pages à la racine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Navigation manuelle pour tout → maintenance lourde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Master pages complexes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Mélanger Content Pages et Widget Pages sans logique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612000" y="684000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2 : Site, Page, Navigation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Panorama Liferay DXP / Portal 7.4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Installation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Site, pages, navigation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CMS : web content, templates, documents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CMS de Liferay : un socle central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2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Le CMS intégré permet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La gestion de contenus multilingues</a:t>
            </a:r>
            <a:br>
              <a:rPr sz="2200"/>
            </a:b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i="1" lang="fr-FR" sz="2200" spc="-1" strike="noStrike">
                <a:solidFill>
                  <a:srgbClr val="c9211e"/>
                </a:solidFill>
                <a:latin typeface="Calibri"/>
              </a:rPr>
              <a:t>Site Settings → Languages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La création de contenus structurés via </a:t>
            </a:r>
            <a:r>
              <a:rPr b="0" i="1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Structures &amp; Templates</a:t>
            </a:r>
            <a:br>
              <a:rPr sz="2200"/>
            </a:br>
            <a:r>
              <a:rPr b="1" i="1" lang="fr-FR" sz="2200" spc="-1" strike="noStrike">
                <a:solidFill>
                  <a:srgbClr val="c9211e"/>
                </a:solidFill>
                <a:latin typeface="Calibri"/>
                <a:ea typeface="Noto Sans CJK SC"/>
              </a:rPr>
              <a:t>Contenu  → Contenu Web  → Structure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La gestion documentaire (DM)</a:t>
            </a:r>
            <a:br>
              <a:rPr sz="2200"/>
            </a:br>
            <a:r>
              <a:rPr b="1" i="1" lang="fr-FR" sz="2200" spc="-1" strike="noStrike">
                <a:solidFill>
                  <a:srgbClr val="c9211e"/>
                </a:solidFill>
                <a:latin typeface="Calibri"/>
                <a:ea typeface="Noto Sans CJK SC"/>
              </a:rPr>
              <a:t>Contenu  → Document et média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L’organisation de l’information grâce à la taxonomie (tags / catégories)</a:t>
            </a:r>
            <a:br>
              <a:rPr sz="2200"/>
            </a:br>
            <a:r>
              <a:rPr b="1" i="1" lang="fr-FR" sz="2200" spc="-1" strike="noStrike">
                <a:solidFill>
                  <a:srgbClr val="c9211e"/>
                </a:solidFill>
                <a:latin typeface="Calibri"/>
                <a:ea typeface="Noto Sans CJK SC"/>
              </a:rPr>
              <a:t>Catégorisation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La publication dynamique (Asset Publisher, Fragments, Display Pages)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L'intégration workflow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Liferay est à la fois un CMS et un framework applicatif.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Architecture CMS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8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Un contenu publié dans Liferay peut être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Un contenu Web (article HTML, texte, actualité…)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Un contenu structuré : Structure + Template 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Un Document &amp; Media File (image, PDF, vidéo)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Un Asset personnalisé (ex : Event, produit…)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43200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Tous ces éléments sont des </a:t>
            </a:r>
            <a:r>
              <a:rPr b="1" lang="fr-FR" sz="2100" spc="-1" strike="noStrike">
                <a:solidFill>
                  <a:srgbClr val="090b5e"/>
                </a:solidFill>
                <a:latin typeface="Calibri"/>
                <a:ea typeface="Noto Sans CJK SC"/>
              </a:rPr>
              <a:t>Assets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, réutilisables dans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Fragments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Widgets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Display Pages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Search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  <a:ea typeface="Noto Sans CJK SC"/>
              </a:rPr>
              <a:t>Asset Publisher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200" spc="-1" strike="noStrike">
                <a:solidFill>
                  <a:srgbClr val="000000"/>
                </a:solidFill>
                <a:latin typeface="Arial"/>
              </a:rPr>
              <a:t>Web Content : définition</a:t>
            </a:r>
            <a:endParaRPr b="0" lang="fr-F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Un </a:t>
            </a:r>
            <a:r>
              <a:rPr b="1" lang="fr-FR" sz="2400" spc="-1" strike="noStrike">
                <a:solidFill>
                  <a:srgbClr val="090b5e"/>
                </a:solidFill>
                <a:latin typeface="Calibri"/>
              </a:rPr>
              <a:t>contenu web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est un contenu textuel ou HTML pouvant contenir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du texte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des images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des vidéos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des variables dynamiques (si structure)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de la mise en forme simple ou avancée (éditeur wysiwyg)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Il constitue l’unité de contenu principale dans un site Liferay.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Web Content : types et usages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7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Utilisations classiques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Actualités / communiqués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Pages institutionnelles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Blocs éditoriaux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Contenu multilingue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Bannière /  snippet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43200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Stockage basé sur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Table </a:t>
            </a:r>
            <a:r>
              <a:rPr b="0" i="1" lang="fr-FR" sz="2200" spc="-1" strike="noStrike">
                <a:solidFill>
                  <a:srgbClr val="000000"/>
                </a:solidFill>
                <a:latin typeface="Calibri"/>
              </a:rPr>
              <a:t>JournalArticle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Versioning intégré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Workflow optionnel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Création d’un Web Content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88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Étapes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Aller dans </a:t>
            </a:r>
            <a:r>
              <a:rPr b="1" i="1" lang="fr-FR" sz="2000" spc="-1" strike="noStrike">
                <a:solidFill>
                  <a:srgbClr val="c9211e"/>
                </a:solidFill>
                <a:latin typeface="Calibri"/>
                <a:ea typeface="Noto Sans CJK SC"/>
              </a:rPr>
              <a:t>Site &gt; Contenu &gt; Web Content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Cliquer </a:t>
            </a:r>
            <a:r>
              <a:rPr b="1" i="1" lang="fr-FR" sz="2000" spc="-1" strike="noStrike">
                <a:solidFill>
                  <a:srgbClr val="c9211e"/>
                </a:solidFill>
                <a:latin typeface="Calibri"/>
                <a:ea typeface="Noto Sans CJK SC"/>
              </a:rPr>
              <a:t>Add &gt; Basic Web Content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Renseigner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Titre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Langues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Contenu (éditeur HTML)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Publier ou démarrer un workflow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Le contenu peut ensuite être affiché via un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fragment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ou un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widget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200" spc="-1" strike="noStrike">
                <a:solidFill>
                  <a:srgbClr val="000000"/>
                </a:solidFill>
                <a:latin typeface="Arial"/>
              </a:rPr>
              <a:t>Intégration d’un contenu dans une page</a:t>
            </a:r>
            <a:endParaRPr b="0" lang="fr-F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Deux possibilités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Widget “Web Content Display”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Sélection d’un contenu unique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Simple et direct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Fragments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Utiliser un fragment “contenu web” dans une page de contenu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Choisir le contenu directement dans l’éditeur visuel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Mise en forme plus flexible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Approche moderne et responsive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Structures 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Avantages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Séparer contenu et mise en forme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Éviter le HTML dans les contenus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Garantir l’homogénéité : toutes les actualités ont le même modèle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Publication automatisée via Asset Publisher ou Display Page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Réutilisation multi-sites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Multilingue propre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Structure : le modèle de données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Une structure définit les champs d’un contenu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Texte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Image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Date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Sélecteur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Géolocalisation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Liste dynamique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Rich Text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Champs répétés (repeatable fields)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Les structures sont stockées dans la table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DDMStructure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Template : le rendu d’un contenu (FreeMarker)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Un template définit comment afficher le contenu dans un widget: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HTML + FTL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Accès aux champs via ${fieldName.getData()}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Mise en forme personnalisée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Intégration CSS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Conditionnels, boucles, formats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Les templates sont stockés dans la table </a:t>
            </a:r>
            <a:r>
              <a:rPr b="0" i="1" lang="fr-FR" sz="2100" spc="-1" strike="noStrike">
                <a:solidFill>
                  <a:srgbClr val="000000"/>
                </a:solidFill>
                <a:latin typeface="Calibri"/>
              </a:rPr>
              <a:t>DDMTemplate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Un template FreeMarker ne crée pas de page :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il définit uniquement le rendu d’un contenu à l’intérieur d’un widget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Exemple structure + template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Structure “Actualité”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titre (text)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image (image)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résumé (text)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corps (rich text)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datePublication (date)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alibri"/>
              </a:rPr>
              <a:t>Template free marker: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&lt;h1&gt;${titre.getData()}&lt;/h1&gt;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&lt;img src="${image.getData()}" /&gt;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&lt;p class="summary"&gt;${resume.getData()}&lt;/p&gt;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&lt;div class="content"&gt;${corps.getData()}&lt;/div&gt;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&lt;small&gt;Publié le ${datePublication.getData()}&lt;/small&gt;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Publication automatisée via Display Page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10000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Une structure peut être liée à un </a:t>
            </a:r>
            <a:r>
              <a:rPr b="1" lang="fr-FR" sz="2800" spc="-1" strike="noStrike">
                <a:solidFill>
                  <a:srgbClr val="090b5e"/>
                </a:solidFill>
                <a:latin typeface="Calibri"/>
              </a:rPr>
              <a:t>modèle de page d’affichage (Display Page) 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L’utilisateur crée un contenu → il est automatiquement associé à une page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URL dédiée par contenu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Idéal pour blogs, actualités, produits, FAQ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Fragments de page = design flexible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La Display Page est une vraie page, construite avec des fragments, qui remplace avantageusement les templates FreeMarker pour l’affichage détaillé d’une structure.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090800" y="566280"/>
            <a:ext cx="850860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Structure, Template ou Display Page : quand utiliser quoi ?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Définir les champs d’un contenu : </a:t>
            </a:r>
            <a:br>
              <a:rPr sz="3200"/>
            </a:br>
            <a:r>
              <a:rPr b="1" lang="fr-FR" sz="3200" spc="-1" strike="noStrike">
                <a:solidFill>
                  <a:srgbClr val="000000"/>
                </a:solidFill>
                <a:latin typeface="Arial"/>
              </a:rPr>
              <a:t>Structure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Rendu dans un widget (liste, bloc) :</a:t>
            </a:r>
            <a:br>
              <a:rPr sz="3200"/>
            </a:br>
            <a:r>
              <a:rPr b="1" lang="fr-FR" sz="3200" spc="-1" strike="noStrike">
                <a:solidFill>
                  <a:srgbClr val="000000"/>
                </a:solidFill>
                <a:latin typeface="Arial"/>
              </a:rPr>
              <a:t>Template FreeMarker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Page dédiée avec URL, SEO, navigation :</a:t>
            </a:r>
            <a:br>
              <a:rPr sz="3200"/>
            </a:br>
            <a:r>
              <a:rPr b="1" lang="fr-FR" sz="3200" spc="-1" strike="noStrike">
                <a:solidFill>
                  <a:srgbClr val="000000"/>
                </a:solidFill>
                <a:latin typeface="Arial"/>
              </a:rPr>
              <a:t>Display Page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Site moderne / CMS : </a:t>
            </a:r>
            <a:br>
              <a:rPr sz="3200"/>
            </a:br>
            <a:r>
              <a:rPr b="1" lang="fr-FR" sz="3200" spc="-1" strike="noStrike">
                <a:solidFill>
                  <a:srgbClr val="000000"/>
                </a:solidFill>
                <a:latin typeface="Arial"/>
              </a:rPr>
              <a:t>Structure + Display Page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Documents &amp; Media : rôle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Module de gestion documentaire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Stockage d’images, PDF, vidéos, archives…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Arborescence (dossiers, sous-dossiers)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Prévisualisation automatique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Versioning natif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Métadonnées personnalisées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Permissions granulaire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Publication via fragments, widgets ou URLs publiques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200" spc="-1" strike="noStrike">
                <a:solidFill>
                  <a:srgbClr val="000000"/>
                </a:solidFill>
                <a:latin typeface="Arial"/>
              </a:rPr>
              <a:t>Méta-données et Taxonomie</a:t>
            </a:r>
            <a:endParaRPr b="0" lang="fr-F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Chaque document peut avoir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Tags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Catégories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Métadonnées spécifiques (ex : type de facture, client, date)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Informations techniques (MIME, taille, checksum)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Récupération d’un document dans une page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Méthodes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2600" spc="-1" strike="noStrike">
                <a:solidFill>
                  <a:srgbClr val="c9211e"/>
                </a:solidFill>
                <a:latin typeface="Calibri"/>
              </a:rPr>
              <a:t>Fragment “Image” → choisir un document</a:t>
            </a:r>
            <a:br>
              <a:rPr sz="2600"/>
            </a:b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Liferay gère le responsive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600" spc="-1" strike="noStrike">
                <a:solidFill>
                  <a:srgbClr val="c9211e"/>
                </a:solidFill>
                <a:latin typeface="Calibri"/>
              </a:rPr>
              <a:t>Fragment “Content”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</a:t>
            </a:r>
            <a:br>
              <a:rPr sz="2600"/>
            </a:b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Utiliser des documents comme assets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600" spc="-1" strike="noStrike">
                <a:solidFill>
                  <a:srgbClr val="c9211e"/>
                </a:solidFill>
                <a:latin typeface="Calibri"/>
              </a:rPr>
              <a:t>Widget Document &amp; Media </a:t>
            </a:r>
            <a:br>
              <a:rPr sz="2600"/>
            </a:b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affichage de dossiers complets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URL publique (si activée)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Bonnes pratiques Documents &amp; Media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Organiser en dossiers logiques (éviter un dossier “images” avec 1000 éléments)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Utiliser catégories + métadonnées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Activer les permissions selon usage (édition restreinte)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Préférer WebP/JPEG optimisés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Séparer contenus éditoriaux / fichiers techniques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Tags vs Catégories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69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666"/>
          </a:bodyPr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rgbClr val="090b5e"/>
                </a:solidFill>
                <a:latin typeface="Calibri"/>
              </a:rPr>
              <a:t>Tags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Libres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Créés par les utilisateurs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Permettent un regroupement ponctuel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Utiles pour le filtrage dans Asset Publisher ou Search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lang="fr-FR" sz="3600" spc="-1" strike="noStrike">
                <a:solidFill>
                  <a:srgbClr val="090b5e"/>
                </a:solidFill>
                <a:latin typeface="Calibri"/>
              </a:rPr>
              <a:t>Catégories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Organisées dans des vocabulaires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Contrôlées (taxonomie métier)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Permettent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Segmentation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récupération personnalisée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création d’automatisations (display page conditionnelle)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196560" y="684000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3 : CMS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Administration &amp; Exploitation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Base de données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 configuration / logs / sessions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Exploitation des modules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Patching DXP / mises à jour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Environnements, staging, import/export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Organisation générale de la base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La base Liferay est composée de quatre grands ensembles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romanUcParenR"/>
              <a:tabLst>
                <a:tab algn="l" pos="0"/>
              </a:tabLst>
            </a:pPr>
            <a:r>
              <a:rPr b="0" lang="fr-FR" sz="2200" spc="-1" strike="noStrike" u="sng">
                <a:solidFill>
                  <a:srgbClr val="000000"/>
                </a:solidFill>
                <a:uFillTx/>
                <a:latin typeface="Calibri"/>
              </a:rPr>
              <a:t>Données cœur du portail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 : users, roles, groups, permissions, layouts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romanUcParenR"/>
              <a:tabLst>
                <a:tab algn="l" pos="0"/>
              </a:tabLst>
            </a:pPr>
            <a:r>
              <a:rPr b="0" lang="fr-FR" sz="2200" spc="-1" strike="noStrike" u="sng">
                <a:solidFill>
                  <a:srgbClr val="000000"/>
                </a:solidFill>
                <a:uFillTx/>
                <a:latin typeface="Calibri"/>
              </a:rPr>
              <a:t>Modules standards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(CMS, Documents &amp; Media, Blogs, etc.)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romanUcParenR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fr-FR" sz="2200" spc="-1" strike="noStrike" u="sng">
                <a:solidFill>
                  <a:srgbClr val="000000"/>
                </a:solidFill>
                <a:uFillTx/>
                <a:latin typeface="Calibri"/>
              </a:rPr>
              <a:t>Configuration et métadonnées système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romanUcParenR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fr-FR" sz="2200" spc="-1" strike="noStrike" u="sng">
                <a:solidFill>
                  <a:srgbClr val="000000"/>
                </a:solidFill>
                <a:uFillTx/>
                <a:latin typeface="Calibri"/>
              </a:rPr>
              <a:t>Données applicatives personnalisées 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(Service Builder)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Liferay applique systématiquement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une gestion stricte des clés (companyId, groupId, userId)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un modèle multi-tenant intégré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trois identifiants fondamentaux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Ces 3 colonnes sont présentes dans presque toutes les tables Liferay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companyId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identifie l’instance Liferay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groupId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identifie un site, une communauté, un scope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userId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identifie l’utilisateur ayant créé / modifié la ressource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Compréhension obligatoire pour diagnostiquer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contenu invisible (mauvais groupId)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erreurs de permission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duplications ou conflits de Site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Company, Groupes, Sites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89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1" lang="fr-FR" sz="2200" spc="-1" strike="noStrike">
                <a:solidFill>
                  <a:srgbClr val="090b5e"/>
                </a:solidFill>
                <a:latin typeface="Calibri"/>
              </a:rPr>
              <a:t>Table Company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Représente l’instance Liferay (tenant)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Contient le nom du portail (ex. Portail des événements)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Porte le branding global (nom, domaine, configuration générale)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567"/>
              </a:spcBef>
              <a:buNone/>
              <a:tabLst>
                <a:tab algn="l" pos="0"/>
              </a:tabLst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1" lang="fr-FR" sz="2200" spc="-1" strike="noStrike">
                <a:solidFill>
                  <a:srgbClr val="090b5e"/>
                </a:solidFill>
                <a:latin typeface="Calibri"/>
              </a:rPr>
              <a:t>Table Group_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Représente un site Liferay (Guest, Global, site métier, organisation…)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1 enregistrement = 1 site logique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Lié à une Company via companyId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1" lang="fr-FR" sz="2200" spc="-1" strike="noStrike">
                <a:solidFill>
                  <a:srgbClr val="090b5e"/>
                </a:solidFill>
                <a:latin typeface="Calibri"/>
              </a:rPr>
              <a:t>Table LayoutSet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Représente un ensemble de pages pour un site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Toujours 2 enregistrements par site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pages publiques (privateLayout = false)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pages privées (privateLayout = true, héritage historique)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Porte les paramètres globaux : thème, logo, CSS, paramètres communs aux pages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Pages (Layouts)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999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Table : Layout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Colonnes clés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plid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ID de la page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groupId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site auquel la page appartient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friendlyURL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parentLayoutId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hiérarchie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type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widget / content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hidden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→ page non affichée dans navigation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Diagnostics utiles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page non visible → vérifier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hidden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ou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typeSettings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URL cassée → vérifier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friendlyURL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Utilisateurs &amp; Rôles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Users : </a:t>
            </a:r>
            <a:r>
              <a:rPr b="1" i="1" lang="fr-FR" sz="2100" spc="-1" strike="noStrike">
                <a:solidFill>
                  <a:srgbClr val="1511ac"/>
                </a:solidFill>
                <a:latin typeface="Calibri"/>
              </a:rPr>
              <a:t>User_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Organisations : </a:t>
            </a:r>
            <a:r>
              <a:rPr b="1" i="1" lang="fr-FR" sz="2100" spc="-1" strike="noStrike">
                <a:solidFill>
                  <a:srgbClr val="1511ac"/>
                </a:solidFill>
                <a:latin typeface="Calibri"/>
              </a:rPr>
              <a:t>Organization_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Rôles : </a:t>
            </a:r>
            <a:r>
              <a:rPr b="1" i="1" lang="fr-FR" sz="2100" spc="-1" strike="noStrike">
                <a:solidFill>
                  <a:srgbClr val="1511ac"/>
                </a:solidFill>
                <a:latin typeface="Calibri"/>
              </a:rPr>
              <a:t>Role_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Permissions : </a:t>
            </a:r>
            <a:r>
              <a:rPr b="1" i="1" lang="fr-FR" sz="2100" spc="-1" strike="noStrike">
                <a:solidFill>
                  <a:srgbClr val="1511ac"/>
                </a:solidFill>
                <a:latin typeface="Calibri"/>
              </a:rPr>
              <a:t>ResourcePermission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Membres de site : </a:t>
            </a:r>
            <a:r>
              <a:rPr b="1" i="1" lang="fr-FR" sz="2100" spc="-1" strike="noStrike">
                <a:solidFill>
                  <a:srgbClr val="1511ac"/>
                </a:solidFill>
                <a:latin typeface="Calibri"/>
              </a:rPr>
              <a:t>UserGroupRole</a:t>
            </a: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 &amp; </a:t>
            </a:r>
            <a:r>
              <a:rPr b="1" i="1" lang="fr-FR" sz="2100" spc="-1" strike="noStrike">
                <a:solidFill>
                  <a:srgbClr val="1511ac"/>
                </a:solidFill>
                <a:latin typeface="Calibri"/>
              </a:rPr>
              <a:t>Group_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Liferay mélange rôles globaux, rôles de site, rôles d’organisation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Les permissions finales sont matérialisées dans </a:t>
            </a:r>
            <a:r>
              <a:rPr b="0" i="1" lang="fr-FR" sz="2100" spc="-1" strike="noStrike">
                <a:solidFill>
                  <a:srgbClr val="000000"/>
                </a:solidFill>
                <a:latin typeface="Calibri"/>
              </a:rPr>
              <a:t>ResourcePermission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Permissions : tables critiques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Permission = combinaison de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RoleId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ResourceId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ActionId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Tables clés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355269"/>
                </a:solidFill>
                <a:latin typeface="Calibri"/>
              </a:rPr>
              <a:t>ResourceAction 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Liste des actions possibles (VIEW, UPDATE…)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355269"/>
                </a:solidFill>
                <a:latin typeface="Calibri"/>
              </a:rPr>
              <a:t>ResourcePermission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Autorisation effective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355269"/>
                </a:solidFill>
                <a:latin typeface="Calibri"/>
              </a:rPr>
              <a:t>ResourceTypePermission 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Permissions par type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Diagnostic classique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Contenu invisible → vérifier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ResourcePermission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+ rôle utilisateur.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CMS : Web Content (Journal)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1511ac"/>
                </a:solidFill>
                <a:latin typeface="Calibri"/>
              </a:rPr>
              <a:t>JournalArticle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 : Contenu (toutes versions)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1511ac"/>
                </a:solidFill>
                <a:latin typeface="Calibri"/>
              </a:rPr>
              <a:t>JournalArticleLocalization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 : Multilingue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1511ac"/>
                </a:solidFill>
                <a:latin typeface="Calibri"/>
              </a:rPr>
              <a:t>JournalFolder 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: Arborescence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1511ac"/>
                </a:solidFill>
                <a:latin typeface="Calibri"/>
              </a:rPr>
              <a:t>DDMStructure 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: Structure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1511ac"/>
                </a:solidFill>
                <a:latin typeface="Calibri"/>
              </a:rPr>
              <a:t>DDMTemplate 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: Template Freemarker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Points clés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Un Web Content possède plusieurs versions (version)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Le champ </a:t>
            </a:r>
            <a:r>
              <a:rPr b="0" i="1" lang="fr-FR" sz="2400" spc="-1" strike="noStrike">
                <a:solidFill>
                  <a:srgbClr val="000000"/>
                </a:solidFill>
                <a:latin typeface="Calibri"/>
              </a:rPr>
              <a:t>resourcePrimKey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relie toutes les versions entre elles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Workflow géré via </a:t>
            </a:r>
            <a:r>
              <a:rPr b="0" i="1" lang="fr-FR" sz="2400" spc="-1" strike="noStrike">
                <a:solidFill>
                  <a:srgbClr val="000000"/>
                </a:solidFill>
                <a:latin typeface="Calibri"/>
              </a:rPr>
              <a:t>status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 + </a:t>
            </a:r>
            <a:r>
              <a:rPr b="0" i="1" lang="fr-FR" sz="2400" spc="-1" strike="noStrike">
                <a:solidFill>
                  <a:srgbClr val="000000"/>
                </a:solidFill>
                <a:latin typeface="Calibri"/>
              </a:rPr>
              <a:t>statusByUserId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Documents &amp; Media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DLFileEntry 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Métadonnées document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DLFileVersion 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Versioning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DLFolder 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Dossiers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DLFileEntryMetadata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Métadonnées personnalisées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Repository 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Dépôts externes (CMIS, S3…)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Diagnostics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Document invisible → mauvais groupId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Mauvaise version → vérifier DLFileVersion.isLatest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196560" y="684000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4 : Tables de la BD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Administration &amp; Exploitation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Base de données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Optimisation configuration / logs / sessions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Exploitation des modules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Patching DXP / mises à jour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Environnements, staging, import/export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Deux niveaux de configuration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1. Configuration </a:t>
            </a: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globale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Options de la JVM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Fichiers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portal-ext.properties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Paramètres haute disponibilité / cluster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LDAP / SSO / Proxy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2. Configuration </a:t>
            </a:r>
            <a:r>
              <a:rPr b="1" lang="fr-FR" sz="2000" spc="-1" strike="noStrike">
                <a:solidFill>
                  <a:srgbClr val="090b5e"/>
                </a:solidFill>
                <a:latin typeface="Calibri"/>
              </a:rPr>
              <a:t>modulaire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(OSGi)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Fichiers .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config dans osgi/configs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GogoShell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Activation/désactivation des modules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Configuration à chaud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Options JVM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/>
          </p:nvPr>
        </p:nvSpPr>
        <p:spPr>
          <a:xfrm>
            <a:off x="360000" y="2083320"/>
            <a:ext cx="915300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 lnSpcReduction="10000"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options de la JVM se positionne dans Tomcat. </a:t>
            </a:r>
            <a:br>
              <a:rPr sz="3200"/>
            </a:br>
            <a:r>
              <a:rPr b="1" i="1" lang="fr-FR" sz="3200" spc="-1" strike="noStrike">
                <a:solidFill>
                  <a:srgbClr val="353d69"/>
                </a:solidFill>
                <a:latin typeface="Arial"/>
              </a:rPr>
              <a:t>bin/setenv.sh</a:t>
            </a:r>
            <a:br>
              <a:rPr sz="3200"/>
            </a:b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Extrait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CATALINA_OPTS="$CATALINA_OPTS -Dfile.encoding=UTF-8 -Djava.net.preferIPv4Stack=true -Duser.timezone=GMT -Xms2560m -Xmx2560m -XX:MaxNewSize=1536m -XX:MaxMetaspaceSize=768m -XX:MetaspaceSize=768m -XX:NewSize=1536m -XX:SurvivorRatio=7"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export JDK_JAVA_OPTIONS="${JDK_JAVA_OPTIONS} --add-opens=java.base/java.lang=ALL-UNNAMED --add-opens=java.base/java.lang.invoke=ALL-UNNAMED --add-opens=java.base/java.lang.reflect=ALL-UNNAMED --add-opens=java.base/java.net=ALL-UNNAMED --add-opens=java.base/sun.net.www.protocol.http=ALL-UNNAMED --add-opens=java.base/sun.net.www.protocol.https=ALL-UNNAMED --add-opens=java.base/sun.util.calendar=ALL-UNNAMED --add-opens=jdk.zipfs/jdk.nio.zipfs=ALL-UNNAMED"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Recommandations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/>
          </p:nvPr>
        </p:nvSpPr>
        <p:spPr>
          <a:xfrm>
            <a:off x="720000" y="1800000"/>
            <a:ext cx="8793000" cy="542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090b5e"/>
                </a:solidFill>
                <a:latin typeface="Arial"/>
              </a:rPr>
              <a:t>Heap 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: Xms = Xmx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DEV : 2 Go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INT / REC : 4 Go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PROD : 6–8 Go (selon charge)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090b5e"/>
                </a:solidFill>
                <a:latin typeface="Arial"/>
              </a:rPr>
              <a:t>Garbage collecting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-XX:+UseG1GC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-XX:MaxGCPauseMillis=200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090b5e"/>
                </a:solidFill>
                <a:latin typeface="Arial"/>
              </a:rPr>
              <a:t>Metaspace 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(Important pour OSGI)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-XX:MetaspaceSize=256m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-XX:MaxMetaspaceSize=512m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090b5e"/>
                </a:solidFill>
                <a:latin typeface="Arial"/>
              </a:rPr>
              <a:t>Diagnostic / Debug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-XX:+HeapDumpOnOutOfMemoryError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-XX:HeapDumpPath=/opt/liferay/heapdumps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-XX:+PrintGCDetails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-XX:+PrintGCDateStamps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-Xloggc:/opt/liferay/logs/gc.log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i="1" lang="fr-FR" sz="3600" spc="-1" strike="noStrike">
                <a:solidFill>
                  <a:srgbClr val="000000"/>
                </a:solidFill>
                <a:latin typeface="Arial"/>
              </a:rPr>
              <a:t>portal-ext.properties</a:t>
            </a:r>
            <a:r>
              <a:rPr b="0" lang="fr-FR" sz="3600" spc="-1" strike="noStrike">
                <a:solidFill>
                  <a:srgbClr val="000000"/>
                </a:solidFill>
                <a:latin typeface="Arial"/>
              </a:rPr>
              <a:t> : rôle et limites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7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portal-ext.properties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surcharge les propriétés de base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global à toute l’instance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appliqué au démarrage uniquement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destiné aux paramètres techniques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Exemples fréquents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jdbc.default.driverClassName=com.mysql.cj.jdbc.Driver jdbc.default.username=liferay 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company.default.web.id=liferay.com 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theme.css.fast.load=false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  <a:ea typeface="Courier New"/>
              </a:rPr>
              <a:t>Référence fichier </a:t>
            </a:r>
            <a:r>
              <a:rPr b="1" i="1" lang="fr-FR" sz="2100" spc="-1" strike="noStrike">
                <a:solidFill>
                  <a:srgbClr val="090b5e"/>
                </a:solidFill>
                <a:latin typeface="Cabri"/>
                <a:ea typeface="Courier New"/>
              </a:rPr>
              <a:t>portal.properties</a:t>
            </a:r>
            <a:r>
              <a:rPr b="0" lang="fr-FR" sz="2100" spc="-1" strike="noStrike">
                <a:solidFill>
                  <a:srgbClr val="000000"/>
                </a:solidFill>
                <a:latin typeface="Cabri"/>
                <a:ea typeface="Courier New"/>
              </a:rPr>
              <a:t> dans le bundle </a:t>
            </a:r>
            <a:r>
              <a:rPr b="1" i="1" lang="fr-FR" sz="2100" spc="-1" strike="noStrike">
                <a:solidFill>
                  <a:srgbClr val="090b5e"/>
                </a:solidFill>
                <a:latin typeface="Cabri"/>
                <a:ea typeface="Courier New"/>
              </a:rPr>
              <a:t>portal-impl.jar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Configuration via Control Panel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Accessible depuis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c9211e"/>
                </a:solidFill>
                <a:latin typeface="Cabri"/>
              </a:rPr>
              <a:t>Control Panel &gt; Configuration &gt; System Settings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Permet de configurer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recherche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sessions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documents &amp; media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authentification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sécurité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modules spécifiques (blogs, web content, DM…)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➡ </a:t>
            </a: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Modifiable sans restart, stocké dans la table configuration.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Configuration OSGi (.config)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Emplacement : </a:t>
            </a: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LIFERAY_HOME/osgi/configs/*.config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Chaque fichier correspond à une configuration d’un module OSGI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Le nom du fichier est l’ID OSGi de la configuration. 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Ex :</a:t>
            </a:r>
            <a:br>
              <a:rPr sz="2000"/>
            </a:br>
            <a:r>
              <a:rPr b="0" lang="fr-FR" sz="1600" spc="-1" strike="noStrike">
                <a:solidFill>
                  <a:srgbClr val="000000"/>
                </a:solidFill>
                <a:latin typeface="Cabri"/>
              </a:rPr>
              <a:t>com.liferay.portal.search.elasticsearch7.configuration.CompanyIndexConfiguration.config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  <a:ea typeface="Courier New"/>
              </a:rPr>
              <a:t>Le contenu contient des lignes clé/valeurs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indexNamePrefix=mycompany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Courier New"/>
              </a:rPr>
              <a:t>indexStorageType=remote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Architecture des logs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Liferay utilise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log4j pour la logique globale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slf4j pour la majorité des modules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logs catégorisés par package Java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logs complémentaires OSGi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Fichier clé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LIFERAY_HOME/tomcat/logs/catalina.out (ou équivalent serveur)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Modifier la verbosité des logs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Deux méthodes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1) Via Control Panel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000" spc="-1" strike="noStrike">
                <a:solidFill>
                  <a:srgbClr val="c9211e"/>
                </a:solidFill>
                <a:latin typeface="Cabri"/>
              </a:rPr>
              <a:t>System Settings → Logging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Créer un logger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Category: </a:t>
            </a: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com.liferay.journal.service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Level: </a:t>
            </a: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DEBUG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2) Via </a:t>
            </a: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portal-ext.properties</a:t>
            </a: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 (rarement utilisé)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log4j.logger.com.liferay.journal=DEBUG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Lire une stacktrace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Une erreur se compose de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Type d’erreur : </a:t>
            </a:r>
            <a:r>
              <a:rPr b="0" i="1" lang="fr-FR" sz="3200" spc="-1" strike="noStrike">
                <a:solidFill>
                  <a:srgbClr val="000000"/>
                </a:solidFill>
                <a:latin typeface="Cabri"/>
              </a:rPr>
              <a:t>PermissionException, PrincipalException, NoSuchLayoutExceptio</a:t>
            </a: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n…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Module source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Cause profonde (root cause)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stack trace complète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Méthodologie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Repérer la première ligne “meaningful”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Identifier module et composant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Vérifier OSGi “component not satisfied”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Rejouer scénario en logs DEBUG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Erreurs fréquentes &amp; diagnostic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07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2100" spc="-1" strike="noStrike">
                <a:solidFill>
                  <a:srgbClr val="1511ac"/>
                </a:solidFill>
                <a:latin typeface="Cabri"/>
              </a:rPr>
              <a:t>"NoSuchLayoutException"</a:t>
            </a: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Page supprimée / mauvais friendly URL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Voir Table Layout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2100" spc="-1" strike="noStrike">
                <a:solidFill>
                  <a:srgbClr val="1511ac"/>
                </a:solidFill>
                <a:latin typeface="Cabri"/>
              </a:rPr>
              <a:t>"PrincipalException"</a:t>
            </a: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Permissions manquantes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Voir ResourcePermission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2100" spc="-1" strike="noStrike">
                <a:solidFill>
                  <a:srgbClr val="1511ac"/>
                </a:solidFill>
                <a:latin typeface="Cabri"/>
              </a:rPr>
              <a:t>"ClusterMasterExecutorImpl"</a:t>
            </a: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Problème cluster System Settings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r>
              <a:rPr b="1" i="1" lang="fr-FR" sz="2100" spc="-1" strike="noStrike">
                <a:solidFill>
                  <a:srgbClr val="1511ac"/>
                </a:solidFill>
                <a:latin typeface="Cabri"/>
              </a:rPr>
              <a:t>“</a:t>
            </a:r>
            <a:r>
              <a:rPr b="1" i="1" lang="fr-FR" sz="2100" spc="-1" strike="noStrike">
                <a:solidFill>
                  <a:srgbClr val="1511ac"/>
                </a:solidFill>
                <a:latin typeface="Cabri"/>
              </a:rPr>
              <a:t>Could not resolve module”</a:t>
            </a: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Dépendances OSGi manquantes </a:t>
            </a:r>
            <a:br>
              <a:rPr sz="2100"/>
            </a:b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Gogo Shell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41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Gestion des sessions dans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Session HTTP + Session Portal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Stockage en mémoire (par défaut)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Synchronisation cluster possible via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Sticky sessions (recommandé)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Persistence (Redis, Infinispan) dans DXP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Paramètres clés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session.timeout=30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session.timeout.auto.extend=true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 de la gestion des sessions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Bonnes pratiques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Timeout = 15 à 30 min pour intranet, moins en extranet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Activer session.timeout.auto.extend uniquement si nécessaire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Surveiller la taille des objets en session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Éviter de stocker des collections lourdes en session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Optimisations de démarrage / déploiement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Désactiver modules inutiles via Gogo Shell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Supprimer modules marketplace non utilisés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Vérifier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DNS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connexions JDBC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index de recherche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état OSGi (“unsatisfied components”)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Optimiser la recherche (Elasticsearch)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Options clés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Externaliser Elasticsearch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Multi-Node pour ressource critique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Activer le monitoring Kibana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Régénérer les index régulièrement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c9211e"/>
                </a:solidFill>
                <a:latin typeface="Cabri"/>
              </a:rPr>
              <a:t>Panneau de contrôle &gt; Recherche &gt; Indexer les actions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À éviter : Elasticsearch embarqué en production.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 UI (thèmes &amp; front-end)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Activer minification JS/CSS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Utiliser Clay plutôt qu’AUI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Limiter le nombre de portlets par page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Privilégier les Content Pages pour les pages marketing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Optimiser les images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720000" y="684000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5 : Gestion de configuration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Administration &amp; Exploitation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Base de données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 configuration / logs / sessions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Exploitation des modules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Patching DXP / mises à jour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Environnements, staging, import/export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Introduction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534600" y="2127960"/>
            <a:ext cx="9622080" cy="47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4444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Dans Liferay, toute fonctionnalité est un </a:t>
            </a:r>
            <a:r>
              <a:rPr b="1" lang="fr-FR" sz="4800" spc="-1" strike="noStrike">
                <a:solidFill>
                  <a:srgbClr val="1a2fad"/>
                </a:solidFill>
                <a:latin typeface="Arial"/>
              </a:rPr>
              <a:t>module OSGi</a:t>
            </a: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 :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CMS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Pages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Staging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Recherche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Marketplace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Commerce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Les modules sont chargés à l’exécution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4800" spc="-1" strike="noStrike">
                <a:solidFill>
                  <a:srgbClr val="000000"/>
                </a:solidFill>
                <a:latin typeface="Arial"/>
              </a:rPr>
              <a:t>Les problèmes pouvant arrivés lors de l’exploitation sont souvent un module OSGI mal résolu</a:t>
            </a:r>
            <a:endParaRPr b="0" lang="fr-FR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Qu’est ce qu’un module OSGI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43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1e31c9"/>
                </a:solidFill>
                <a:latin typeface="Arial"/>
              </a:rPr>
              <a:t>OSGi (Open Services Gateway initiative)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est un système de modules pour Java.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Il permet de transformer une application monolithique en une collection de composants dynamiques et réutilisables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avantages recherchés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e31c9"/>
                </a:solidFill>
                <a:latin typeface="Arial"/>
              </a:rPr>
              <a:t>La modularité 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: Le JAR classique devient un Bundle. Chaque bundle possède son propre ClassLoader (isolation totale) et choisit explicitement ce qu’il expose (Export-Package) et ce dont on a besoin (Import-Package).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e31c9"/>
                </a:solidFill>
                <a:latin typeface="Arial"/>
              </a:rPr>
              <a:t>Cycle de vie dynamique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 : On peut installer, démarrer, arrêter ou mettre à jour un module sans redémarrer le serveur.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e31c9"/>
                </a:solidFill>
                <a:latin typeface="Arial"/>
              </a:rPr>
              <a:t>Registre de Services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Les modules communiquent via des Services (interfaces). Découplage total : on demande une interface, OSGi injecte la meilleure implémentation disponible.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Annotations OSGI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900000" y="2083320"/>
            <a:ext cx="8613000" cy="529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244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Déclaration de composant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@Component(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    </a:t>
            </a: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immediate = true,               // Démarre dès que possible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    </a:t>
            </a: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property = {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        </a:t>
            </a: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"osgi.command.function=add", // Exemple pour une commande Gogo Shell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        </a:t>
            </a: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"osgi.command.scope=event"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    </a:t>
            </a: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},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    </a:t>
            </a: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service = EventLocalService.class // Définit l'interface du service publié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public class EventLocalServiceImpl implements EventLocalService { ... }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Injection de dépendance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@Reference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private UserLocalService _userLocalService;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Cycle de vie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@Activate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protected void activate(Map&lt;String, Object&gt; properties) {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System.out.println("Le composant Event est démarré !");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1" lang="fr-FR" sz="2200" spc="-1" strike="noStrike">
                <a:solidFill>
                  <a:srgbClr val="1e31c9"/>
                </a:solidFill>
                <a:latin typeface="Courier New"/>
              </a:rPr>
              <a:t>@Deactivate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protected void deactivate() {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System.out.println("Nettoyage avant l'arrêt...");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283"/>
              </a:spcAft>
              <a:buNone/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Bnd.bnd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Bundle-Name: events-api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Bundle-SymbolicName: org.formation.event.api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Bundle-Version: 1.0.0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Export-Package:\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	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org.formation.event.exception,\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	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org.formation.event.model,\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	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org.formation.event.service,\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	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org.formation.event.service.persistence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-check: EXPORTS</a:t>
            </a:r>
            <a:br>
              <a:rPr sz="1800"/>
            </a:b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JetBrains Mono"/>
              </a:rPr>
              <a:t>-includeresource: META-INF/service.xml=../events-service/service.xml</a:t>
            </a:r>
            <a:endParaRPr b="0" lang="fr-FR" sz="1800" spc="-1" strike="noStrike">
              <a:solidFill>
                <a:srgbClr val="000000"/>
              </a:solidFill>
              <a:latin typeface="Courier New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États des modules OSGi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2"/>
          <p:cNvSpPr>
            <a:spLocks noGrp="1"/>
          </p:cNvSpPr>
          <p:nvPr>
            <p:ph/>
          </p:nvPr>
        </p:nvSpPr>
        <p:spPr>
          <a:xfrm>
            <a:off x="534600" y="1983960"/>
            <a:ext cx="96220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 module peut être dans les états suivants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Active 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: Fonctionne normalement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Resolved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 :  Chargé mais pas actif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Installed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 : Présent mais inutilisable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Unsatisfied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 : Dépendances manquantes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Diagnostic avec le Gogo Shell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534600" y="2055960"/>
            <a:ext cx="96220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8888"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200" spc="-1" strike="noStrike">
                <a:solidFill>
                  <a:srgbClr val="1a2fad"/>
                </a:solidFill>
                <a:latin typeface="Calibri"/>
              </a:rPr>
              <a:t>Gogo Shell (OSGi Shell) 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est l’outil principal pour le diagnostic. Il est accessible via </a:t>
            </a:r>
            <a:br>
              <a:rPr sz="2200"/>
            </a:br>
            <a:r>
              <a:rPr b="1" i="1" lang="fr-FR" sz="2200" spc="-1" strike="noStrike">
                <a:solidFill>
                  <a:srgbClr val="c9211e"/>
                </a:solidFill>
                <a:latin typeface="Calibri"/>
              </a:rPr>
              <a:t>Panneau de contrôle → Système → Gogo shell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Commandes utiles 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lb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    : Lister les modules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lb -s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 : Lister avec les noms symboliques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lb -s | grep document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 : Filtrer un domaine fonctionnel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B [bundle_id]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 → Détail des packages d’un bundle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install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 →  Installation à partir d’un jar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system:check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 : Vérification complète de tous les modules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start | stop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 : Démarrer, arrêter un module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a2fad"/>
                </a:solidFill>
                <a:latin typeface="Calibri"/>
                <a:ea typeface="Noto Sans CJK SC"/>
              </a:rPr>
              <a:t>dm na 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: Liste les modules non résolus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e31c9"/>
                </a:solidFill>
                <a:latin typeface="Calibri"/>
                <a:ea typeface="Noto Sans CJK SC"/>
              </a:rPr>
              <a:t>scr 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: Les composants OSGI @Component, @Reference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2200" spc="-1" strike="noStrike">
                <a:solidFill>
                  <a:srgbClr val="1e31c9"/>
                </a:solidFill>
                <a:latin typeface="Calibri"/>
                <a:ea typeface="Noto Sans CJK SC"/>
              </a:rPr>
              <a:t>services 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  <a:ea typeface="Noto Sans CJK SC"/>
              </a:rPr>
              <a:t>: Liste des services exposés par les bundle, attribut service des @Component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En cas de problème 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/>
          </p:nvPr>
        </p:nvSpPr>
        <p:spPr>
          <a:xfrm>
            <a:off x="534600" y="1911960"/>
            <a:ext cx="9622080" cy="438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Symptômes typiques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une application ne s’ouvre pas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un menu existe mais renvoie une erreur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une fonctionnalité CMS / staging / search est inactive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exceptions dans les traces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Lister les modules et identifier ceux liés au problème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Vérifier le statut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Si statut </a:t>
            </a: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unsatisfied</a:t>
            </a:r>
            <a:br>
              <a:rPr sz="3200"/>
            </a:br>
            <a:r>
              <a:rPr b="0" i="1" lang="fr-FR" sz="3200" spc="-1" strike="noStrike">
                <a:solidFill>
                  <a:srgbClr val="353d69"/>
                </a:solidFill>
                <a:latin typeface="Arial"/>
              </a:rPr>
              <a:t>scr:list | grep &lt;nom_du_bundle&gt;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Activer les logs de debug du logger pour comprendre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Essayer d’arrêter et redémarrer le module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624240" y="684000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6 : Modules OSGI et GogoShell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Administration &amp; Exploitation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Base de données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 configuration / logs / sessions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Exploitation des modules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Patching DXP / mises à jour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Environnements, staging, import/export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Pourquoi appliquer des patchs ?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Les patchs </a:t>
            </a:r>
            <a:r>
              <a:rPr b="1" lang="fr-FR" sz="2400" spc="-1" strike="noStrike">
                <a:solidFill>
                  <a:srgbClr val="000000"/>
                </a:solidFill>
                <a:latin typeface="Cabri"/>
              </a:rPr>
              <a:t>Liferay DXP</a:t>
            </a: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 fournissent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Corrections de bugs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Correctifs de sécurité (critiques)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Corrections de performances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Mise à jour des compatibilités (Java, ES…)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Préparation aux upgrades mineurs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Recommandé : maintenir un cycle de patching régulier.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Types de patchs DXP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1511ac"/>
                </a:solidFill>
                <a:latin typeface="Cabri"/>
              </a:rPr>
              <a:t>Hotfix</a:t>
            </a: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 Correctif ciblé fourni par Liferay Support À la demande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1511ac"/>
                </a:solidFill>
                <a:latin typeface="Cabri"/>
              </a:rPr>
              <a:t>Security Patch</a:t>
            </a: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 Correctifs de vulnérabilités Mensuel / urgent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1511ac"/>
                </a:solidFill>
                <a:latin typeface="Cabri"/>
              </a:rPr>
              <a:t>Fix Pack / GA Update</a:t>
            </a: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 Regroupement de correctifs généraux Trimestriel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1511ac"/>
                </a:solidFill>
                <a:latin typeface="Cabri"/>
              </a:rPr>
              <a:t>Service Pack</a:t>
            </a: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 Métapack de consolidation 1–2 fois par 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En 7.4, la tendance est à : Security Updates + Updates Packs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Patching Tool : rôle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Le Patching Tool permet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d'analyser le bundle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d’installer un patch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de vérifier les patchs appliqués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de restaurer un patch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de générer des rapports de compatibilité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Emplacement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400" spc="-1" strike="noStrike">
                <a:solidFill>
                  <a:srgbClr val="000000"/>
                </a:solidFill>
                <a:latin typeface="Cabri"/>
              </a:rPr>
              <a:t>&lt;LIFERAY_HOME&gt;/patching-tool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Vérifier l'état du serveur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Commande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2400" spc="-1" strike="noStrike">
                <a:solidFill>
                  <a:srgbClr val="353d69"/>
                </a:solidFill>
                <a:latin typeface="Cabri"/>
              </a:rPr>
              <a:t>./patching-tool.sh info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Affiche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version DXP installée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patchs appliqués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patchs disponibles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niveau de support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état du Patching Tool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Télécharger un patch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Les patchs sont fournis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via le Liferay Customer Portal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via abonnement DXP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Chaque patch = archive ZIP contenant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les fichiers modifiés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un fichier </a:t>
            </a:r>
            <a:r>
              <a:rPr b="0" i="1" lang="fr-FR" sz="2100" spc="-1" strike="noStrike">
                <a:solidFill>
                  <a:srgbClr val="000000"/>
                </a:solidFill>
                <a:latin typeface="Cabri"/>
              </a:rPr>
              <a:t>patch.info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scripts de contrôle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Installer un patch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1. Copier le patch dans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&lt;LIFERAY_HOME&gt;/patching-tool/patches/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2. Exécuter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400" spc="-1" strike="noStrike">
                <a:solidFill>
                  <a:srgbClr val="000000"/>
                </a:solidFill>
                <a:latin typeface="Cabri"/>
              </a:rPr>
              <a:t>./patching-tool.sh install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3. Redémarrer le serveur Liferay.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L’outil vérifie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compatibilité version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dépendances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  <a:ea typeface="Courier New"/>
              </a:rPr>
              <a:t>conflits éventuels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Désinstaller / rollback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Deux méthodes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Si le patch est encore présent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100" spc="-1" strike="noStrike">
                <a:solidFill>
                  <a:srgbClr val="000000"/>
                </a:solidFill>
                <a:latin typeface="Cabri"/>
              </a:rPr>
              <a:t>./patching-tool.sh revert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Sinon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Supprimer manuellement le patch + réinstaller une version propre.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Toujours faire un snapshot avant patching.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Diagnostiquer un patch mal appliqué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Indicateurs typiques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bri"/>
              </a:rPr>
              <a:t>patching-tool info</a:t>
            </a: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 ne liste pas le patch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erreurs au démarrage Tomcat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modules OSGi en état Unsatisfied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version incorrecte dans /o/system-status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Solutions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patching-tool.sh revert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vérifier droits d’écriture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supprimer .liferay dans le dossier du patching tool (réinitialisation)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réinstaller patch proprement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Patch vs Upgrade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lang="fr-FR" sz="2200" spc="-1" strike="noStrike">
                <a:solidFill>
                  <a:srgbClr val="1511ac"/>
                </a:solidFill>
                <a:latin typeface="Cabri"/>
              </a:rPr>
              <a:t>Patch</a:t>
            </a: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 Corrige le système existant Faible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lang="fr-FR" sz="2200" spc="-1" strike="noStrike">
                <a:solidFill>
                  <a:srgbClr val="1511ac"/>
                </a:solidFill>
                <a:latin typeface="Cabri"/>
              </a:rPr>
              <a:t>Upgrade mineur</a:t>
            </a: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 GA → GA ou FixPack → FixPack Moyen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lang="fr-FR" sz="2200" spc="-1" strike="noStrike">
                <a:solidFill>
                  <a:srgbClr val="1511ac"/>
                </a:solidFill>
                <a:latin typeface="Cabri"/>
              </a:rPr>
              <a:t>Upgrade majeur</a:t>
            </a: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 7.2 → 7.3 → 7.4 Élevé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Processus d’upgrade majeur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Étapes recommandées :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1. Préparer un environnement de test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2. Mettre à jour :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JDK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Tomcat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modules custom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3. Vérifier compatibilité des apps Marketplace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4. Lancer les scripts upgrade :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1500" spc="-1" strike="noStrike">
                <a:solidFill>
                  <a:srgbClr val="000000"/>
                </a:solidFill>
                <a:latin typeface="Cabri"/>
              </a:rPr>
              <a:t>./gradlew upgrade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ou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1500" spc="-1" strike="noStrike">
                <a:solidFill>
                  <a:srgbClr val="000000"/>
                </a:solidFill>
                <a:latin typeface="Cabri"/>
              </a:rPr>
              <a:t>/opt/liferay/tools/portal-tools-db-upgrade-client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5. Vérifier index de recherche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bri"/>
              </a:rPr>
              <a:t>6. Valider via tests fonctionnels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Compatibilité code custom lors de l’upgrade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Checklist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API obsolètes remplacées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Service Builder régénéré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REST Builder mis à jour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OSGi : vérifier bnd.bnd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Clay / React : mise à jour front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Thème recompilé avec nouvelle base Clay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Bonnes pratiques de mise à jour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Migrer progressivement (version par version)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Régénérer tous les modules Service Builder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Ré-indexer après upgrade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Tester chaque étape (unité / intégration / charge)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Vérifier les Display Pages &amp; Fragments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Mettre à jour la base Elasticsearch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Version CE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L’outil patch n’est pas disponible, on upgrade la version en remplaçant le bundle et en gardant les données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Ce que l’on garde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BD, répertoire data/, osgi/modules, osgi/configs, portal-ext.properties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Ce que l’on remplace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 bundle tomcat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répertoires techniques : osgi/state, osgi/tmp, tomcat/work, tomcat/temp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Bonnes pratiques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Stopper Liferay avant copie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Ne pas copier l’état OSGi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Vérifier DB et liferay.home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Tester sur un environnement intermédiaire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Administration &amp; Exploitation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Base de données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Optimisation configuration / logs / sessions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Exploitation des modules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Patching DXP / mises à jour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Environnements, staging, import/export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Pourquoi plusieurs environnements ?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Une organisation standard Liferay utilise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Dev : développement des modules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Intégration : assemblage + tests fonctionnels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Préproduction : tests de charge / validation client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Production : site final, disponibilité garantie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Objectifs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Sécurité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Qualité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Continuité de service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Déploiements contrôlés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Ce qui doit varier selon l’environnement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Les paramètres suivants ne doivent jamais être codés en dur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URLs externes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Identifiants LDAP / SSO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Paramètres DB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Paramètres Elasticsearch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Configurations d’email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Secrets / tokens OAuth2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Paramètres cluster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➡ </a:t>
            </a: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Externaliser via .config OSGi + variables d’environnement.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Configuration externalisée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Méthodes recommandées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1. Configurations OSGi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osgi/configs/*.config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Versionnables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Déployables via CI/CD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2. Variables d’environnement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Docker / Kubernetes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Remplacent les propriétés dynamiquement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3. portal-ext.properties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bri"/>
              </a:rPr>
              <a:t>Pour les réglages fondamentaux seulement.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1090800" y="462960"/>
            <a:ext cx="8508600" cy="90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Ce qui doit être identique entre environnements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Modules OSGi déployés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Version du thème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Structures / templates du CMS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Modèle de données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Permissions globales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Configuration des rôles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Objectif : éviter la dérive de configuration.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Présentation Export / Import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Fonctionnalité accessible via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c9211e"/>
                </a:solidFill>
                <a:latin typeface="Cabri"/>
              </a:rPr>
              <a:t>Site Menu → Publishing → Export / Import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Permet de transférer entre environnements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Pages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Web contents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Documents &amp; Media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Structures &amp; Templates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Catégories &amp; Tags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Données applicatives compatibles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Export d’un site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0000"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Étapes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Aller dans Export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Sélectionner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Pages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Contenus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Documents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Métadonnées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Choisir compression &amp; options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Télécharger le fichier .lar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Le fichier .lar contient :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données sérialisées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fichiers accompagnants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bri"/>
              </a:rPr>
              <a:t>permissions facultatives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Import dans un autre environnement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666"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Étapes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Aller dans </a:t>
            </a:r>
            <a:r>
              <a:rPr b="1" i="1" lang="fr-FR" sz="2100" spc="-1" strike="noStrike">
                <a:solidFill>
                  <a:srgbClr val="c9211e"/>
                </a:solidFill>
                <a:latin typeface="Cabri"/>
              </a:rPr>
              <a:t>En cours de publication - Import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Importer le </a:t>
            </a:r>
            <a:r>
              <a:rPr b="1" i="1" lang="fr-FR" sz="2100" spc="-1" strike="noStrike">
                <a:solidFill>
                  <a:srgbClr val="0e237d"/>
                </a:solidFill>
                <a:latin typeface="Cabri"/>
              </a:rPr>
              <a:t>.lar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Choisir comportement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Merge with existing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Replace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Mirror (synchronisation)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Lancer l’import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Attention : dépendances entre contenus.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(Règle : importer les structures AVANT les contenus).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Limites de l’Export / Import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Ne migre pas les configurations système (.config)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Ne migre pas les utilisateurs (hors LDAP)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Ne migre pas les configurations applicatives complexes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Peut créer des doublons si mal utilisé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Sensible aux permissions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➡ </a:t>
            </a:r>
            <a:r>
              <a:rPr b="0" lang="fr-FR" sz="2600" spc="-1" strike="noStrike">
                <a:solidFill>
                  <a:srgbClr val="000000"/>
                </a:solidFill>
                <a:latin typeface="Cabri"/>
              </a:rPr>
              <a:t>Pour un portail volumineux, préférer le Staging.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Qu’est-ce que le Staging ?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Fonctionnalité permettant de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préparer le site dans un environnement “brouillon”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valider les contenus et pages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publier manuellement ou automatiquement vers le site “live”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Deux modes :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Local Staging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abri"/>
              </a:rPr>
              <a:t>Remote Staging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Local Staging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Les environnements “staged” et “live” sont sur la même instance.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Caractéristiques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Facile à configurer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Idéal pour un intranet ou un petit portail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Impact minimal sur réseau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Prévisualisation en direct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Limite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même base → pas d’isolation complète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Remote Staging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Environnements “staged” et “live” sur deux serveurs différents.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Avantages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Isolation complète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Perf du front intacte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Séparation totale des données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Recommandé pour gros volume &amp; sites publics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Limites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Configuration réseau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Cohérence des versions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Gestion des échecs de réplication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Ce que le Staging publie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Pages (structure, layouts, fragments)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Web contents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Documents &amp; Media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Structures / Templates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Taxonomies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Permissions (optionnel)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Ne publie pas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Configurations système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Modules OSGi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bri"/>
              </a:rPr>
              <a:t>Paramétrages d’infrastructure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Cycle de publication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Création dans l’environnement de staging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Prévisualisation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Validation (workflow selon paramétrage)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Publication vers live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Contenu immédiatement disponible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Modes de publication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Manuelle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Programmée (cron-like)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bri"/>
              </a:rPr>
              <a:t>Automatique (rare)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Arial"/>
              </a:rPr>
              <a:t>Choisir entre Staging et Import/Export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Site en forte évolution : Staging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Migration ponctuelle : Export / Import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Copie de site existant : Export / Import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Travail collaboratif sur pages : Staging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bri"/>
              </a:rPr>
              <a:t>Gros portail public : Remote Staging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720000" y="677088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7 : Staging + Import/Export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Mise en place 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Service Builder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REST Builder et Client Extensions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Sécurité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Extensions : Asset, Thèmes,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Pré-requis pour le poste de 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Poste de développement : Windows, Linux ou macOS.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JDK 8 ou 11 selon la distribution Liferay utilisée.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Accès à une base de données (PostgreSQL, MariaDB/MySQL, etc.) pour les environnements pérennes.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Outils de développement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Java, Git,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un IDE (Eclipse / Liferay Developer Studio / IntelliJ).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Mode développeur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</a:rPr>
              <a:t>Activation (portal-ext.properties)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000000"/>
                </a:solidFill>
                <a:latin typeface="Cabri"/>
              </a:rPr>
              <a:t>theme.css.fast.load=false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000000"/>
                </a:solidFill>
                <a:latin typeface="Cabri"/>
              </a:rPr>
              <a:t>layout.template.cache.enabled=false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i="1" lang="fr-FR" sz="2200" spc="-1" strike="noStrike">
                <a:solidFill>
                  <a:srgbClr val="000000"/>
                </a:solidFill>
                <a:latin typeface="Cabri"/>
              </a:rPr>
              <a:t>browser.launcher.url=http://localhost:8080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  <a:ea typeface="Courier New"/>
              </a:rPr>
              <a:t>Avantages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  <a:ea typeface="Courier New"/>
              </a:rPr>
              <a:t>Affichage des templates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  <a:ea typeface="Courier New"/>
              </a:rPr>
              <a:t>Réduction du cache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bri"/>
                <a:ea typeface="Courier New"/>
              </a:rPr>
              <a:t>Logs plus explicites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title"/>
          </p:nvPr>
        </p:nvSpPr>
        <p:spPr>
          <a:xfrm>
            <a:off x="1090800" y="462960"/>
            <a:ext cx="8508600" cy="90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de l’environnement de 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Installer </a:t>
            </a:r>
            <a:r>
              <a:rPr b="1" i="1" lang="fr-FR" sz="2600" spc="-1" strike="noStrike">
                <a:solidFill>
                  <a:srgbClr val="1a2fad"/>
                </a:solidFill>
                <a:latin typeface="Calibri"/>
              </a:rPr>
              <a:t>Blade CLI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sur le poste de développement.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Créer un </a:t>
            </a:r>
            <a:r>
              <a:rPr b="1" lang="fr-FR" sz="2600" spc="-1" strike="noStrike">
                <a:solidFill>
                  <a:srgbClr val="1a2fad"/>
                </a:solidFill>
                <a:latin typeface="Calibri"/>
              </a:rPr>
              <a:t>Liferay Workspace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 dans un répertoire de travail :</a:t>
            </a:r>
            <a:br>
              <a:rPr sz="2600"/>
            </a:br>
            <a:r>
              <a:rPr b="1" i="1" lang="fr-FR" sz="2600" spc="-1" strike="noStrike">
                <a:solidFill>
                  <a:srgbClr val="1a2fad"/>
                </a:solidFill>
                <a:latin typeface="Courier New"/>
              </a:rPr>
              <a:t>blade init liferay-workspace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Initialisation Gradle ou Maven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configuration de la version produit 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Ce workspace contiendra les modules (apps, thèmes, services, etc.) du projet.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Intégration avec l’IDE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Importer le workspace dans l’IDE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Liferay Developer Studio (Eclipse packagé) ou Eclipse + plugins Liferay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Peu maintenu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IntelliJ IDEA avec le plugin Liferay.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L’IDE reconnaît les projets Gradle/Maven du workspace et fournit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assistants de création de modules,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support pour le déploiement sur le serveur Liferay,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complétion des APIs Liferay.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528120" y="677088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8 : IDE et Premier portlet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Développement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Service Builder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REST Builder et Client Extensions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Sécurité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Extensions : Asset, Thèmes,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Qu’est-ce qu’un portlet ?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Composant web générant un fragment de page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Cycle de vie géré par le portlet container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Contenu final agrégé par le portail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Interaction via des URLs portlet (</a:t>
            </a:r>
            <a:r>
              <a:rPr b="0" i="1" lang="fr-FR" sz="2400" spc="-1" strike="noStrike">
                <a:solidFill>
                  <a:srgbClr val="000000"/>
                </a:solidFill>
                <a:latin typeface="Calibri"/>
              </a:rPr>
              <a:t>action, render, resource</a:t>
            </a: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Plusieurs instances possibles sur une même page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Structure d’un module MVC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 lnSpcReduction="1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Module généré via Blade  :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blade create -t mvc-portlet ...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  <a:ea typeface="Noto Sans CJK SC"/>
              </a:rPr>
              <a:t>bnd.bnd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: informations OSGi du module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  <a:ea typeface="Noto Sans CJK SC"/>
              </a:rPr>
              <a:t>build.gradle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ou </a:t>
            </a:r>
            <a:r>
              <a:rPr b="1" i="1" lang="fr-FR" sz="2000" spc="-1" strike="noStrike">
                <a:solidFill>
                  <a:srgbClr val="1511ac"/>
                </a:solidFill>
                <a:latin typeface="Calibri"/>
                <a:ea typeface="Noto Sans CJK SC"/>
              </a:rPr>
              <a:t>pom.xml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: dépendances et configuration de build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  <a:ea typeface="Noto Sans CJK SC"/>
              </a:rPr>
              <a:t>src/main/java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: classe portlet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@Component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étendant MVCPortlet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000" spc="-1" strike="noStrike">
                <a:solidFill>
                  <a:srgbClr val="1511ac"/>
                </a:solidFill>
                <a:latin typeface="Calibri"/>
                <a:ea typeface="Noto Sans CJK SC"/>
              </a:rPr>
              <a:t>src/main/resources/META-INF/resources/view.jsp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 (et autres JSP) pour la vue 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ressources additionnelles (i18n, fichiers de configuration).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Le déploiement s’effectue via Gradle/Maven (tâche deploy) ou en copiant l’archive dans </a:t>
            </a:r>
            <a:r>
              <a:rPr b="0" i="1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deploy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  <a:ea typeface="Noto Sans CJK SC"/>
              </a:rPr>
              <a:t>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Cycle de vie / JSR-286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10000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Phases principales 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600" spc="-1" strike="noStrike">
                <a:solidFill>
                  <a:srgbClr val="1511ac"/>
                </a:solidFill>
                <a:latin typeface="Calibri"/>
              </a:rPr>
              <a:t>Action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Traitement d’une action utilisateur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Mise à jour du modèle + validation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600" spc="-1" strike="noStrike">
                <a:solidFill>
                  <a:srgbClr val="1511ac"/>
                </a:solidFill>
                <a:latin typeface="Calibri"/>
              </a:rPr>
              <a:t>Render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Production du HTML final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Chargement de la JSP définie par mvcPath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600" spc="-1" strike="noStrike">
                <a:solidFill>
                  <a:srgbClr val="1511ac"/>
                </a:solidFill>
                <a:latin typeface="Calibri"/>
              </a:rPr>
              <a:t>Resource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Requêtes AJAX / JSON / flux binaire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Implémentée via </a:t>
            </a:r>
            <a:r>
              <a:rPr b="0" i="1" lang="fr-FR" sz="2600" spc="-1" strike="noStrike">
                <a:solidFill>
                  <a:srgbClr val="000000"/>
                </a:solidFill>
                <a:latin typeface="Calibri"/>
              </a:rPr>
              <a:t>MVCResourceCommand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fr-FR" sz="2600" spc="-1" strike="noStrike">
                <a:solidFill>
                  <a:srgbClr val="1511ac"/>
                </a:solidFill>
                <a:latin typeface="Calibri"/>
              </a:rPr>
              <a:t>Event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Communication inter-portlets (peu utilisée)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Modes &amp; États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666"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Modes fonctionnels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600" spc="-1" strike="noStrike">
                <a:solidFill>
                  <a:srgbClr val="1511ac"/>
                </a:solidFill>
                <a:latin typeface="Calibri"/>
              </a:rPr>
              <a:t>view</a:t>
            </a: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 : affichage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600" spc="-1" strike="noStrike">
                <a:solidFill>
                  <a:srgbClr val="1511ac"/>
                </a:solidFill>
                <a:latin typeface="Calibri"/>
              </a:rPr>
              <a:t>edit</a:t>
            </a: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 : configuration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600" spc="-1" strike="noStrike">
                <a:solidFill>
                  <a:srgbClr val="1511ac"/>
                </a:solidFill>
                <a:latin typeface="Calibri"/>
              </a:rPr>
              <a:t>help</a:t>
            </a: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 : aide (rare)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États de fenêtre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600" spc="-1" strike="noStrike">
                <a:solidFill>
                  <a:srgbClr val="1511ac"/>
                </a:solidFill>
                <a:latin typeface="Calibri"/>
              </a:rPr>
              <a:t>normal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600" spc="-1" strike="noStrike">
                <a:solidFill>
                  <a:srgbClr val="1511ac"/>
                </a:solidFill>
                <a:latin typeface="Calibri"/>
              </a:rPr>
              <a:t>maximized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600" spc="-1" strike="noStrike">
                <a:solidFill>
                  <a:srgbClr val="1511ac"/>
                </a:solidFill>
                <a:latin typeface="Calibri"/>
              </a:rPr>
              <a:t>minimized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Portlet MVC : principes Liferay 7.4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Basé sur des modules </a:t>
            </a: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OSGi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Classe historique contrôleur : </a:t>
            </a:r>
            <a:r>
              <a:rPr b="1" lang="fr-FR" sz="1800" spc="-1" strike="noStrike">
                <a:solidFill>
                  <a:srgbClr val="1511ac"/>
                </a:solidFill>
                <a:latin typeface="Calibri"/>
              </a:rPr>
              <a:t>MVCPortlet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avec surcharge des méthodes </a:t>
            </a: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doView, processAction et serveResource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Vues : JSP sous </a:t>
            </a: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META-INF/resources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Sélection de la JSP via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Attribut d’annotation ou paramètre d’URL </a:t>
            </a:r>
            <a:r>
              <a:rPr b="1" i="1" lang="fr-FR" sz="1800" spc="-1" strike="noStrike">
                <a:solidFill>
                  <a:srgbClr val="1a2fad"/>
                </a:solidFill>
                <a:latin typeface="Calibri"/>
              </a:rPr>
              <a:t>mvc-path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Pattern commande permettant une séparation claire, impliquant 3 classes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Action =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MVCActionCommand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Render =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MVCRenderCommand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Resource =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MVCResourceCommand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Structure d’un module MVC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hello-web/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├─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bnd.bnd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├─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build.gradle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└─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src/main/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├─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java/com/acme/hello/HelloPortlet.java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└─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resources/META-INF/resources/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      ├─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view.jsp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      ├─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edit.jsp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      └─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css/js/img…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ail"/>
              </a:rPr>
              <a:t>Exemple minimal : classe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@Component(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property = {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"javax.portlet.name=demo_mvc",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"javax.portlet.init-param.mvc-path=/view.jsp",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"javax.portlet.display-name=Demo MVC"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},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service = Portlet.class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public class DemoMVCPortlet extends MVCPortlet { }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MVCActionCommand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: traitement &amp; validation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8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/>
          </a:bodyPr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@Component(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property = {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"javax.portlet.name=demo_mvc",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"mvc.command.name=saveEntry"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},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 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service = MVCActionCommand.class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)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public class SaveEntryMVCActionCommand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implements MVCActionCommand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{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@Override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public boolean processAction(ActionRequest req, ActionResponse resp) {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String title = ParamUtil.getString(req, "title");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if (Validator.isNull(title)) {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SessionErrors.add(req, "title-required");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resp.setRenderParameter("mvcPath", "/edit.jsp");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return false;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SessionMessages.add(req, "entry-saved");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return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true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Navigation entre vues : </a:t>
            </a: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mvcPath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Dans une JSP :</a:t>
            </a:r>
            <a:br>
              <a:rPr sz="2200"/>
            </a:b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&lt;</a:t>
            </a:r>
            <a:r>
              <a:rPr b="1" lang="fr-FR" sz="2200" spc="-1" strike="noStrike">
                <a:solidFill>
                  <a:srgbClr val="1a2fad"/>
                </a:solidFill>
                <a:latin typeface="Courier New"/>
              </a:rPr>
              <a:t>portlet:renderURL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 var="editURL"&gt;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&lt;portlet:param name="</a:t>
            </a:r>
            <a:r>
              <a:rPr b="1" lang="fr-FR" sz="2200" spc="-1" strike="noStrike">
                <a:solidFill>
                  <a:srgbClr val="1a2fad"/>
                </a:solidFill>
                <a:latin typeface="Courier New"/>
              </a:rPr>
              <a:t>mvcPath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" value="/edit.jsp"/&gt;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&lt;/portlet:renderURL&gt;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Dans une </a:t>
            </a:r>
            <a:r>
              <a:rPr b="0" i="1" lang="fr-FR" sz="2200" spc="-1" strike="noStrike">
                <a:solidFill>
                  <a:srgbClr val="000000"/>
                </a:solidFill>
                <a:latin typeface="Calibri"/>
              </a:rPr>
              <a:t>ActionCommand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resp.</a:t>
            </a:r>
            <a:r>
              <a:rPr b="1" lang="fr-FR" sz="2200" spc="-1" strike="noStrike">
                <a:solidFill>
                  <a:srgbClr val="1a2fad"/>
                </a:solidFill>
                <a:latin typeface="Courier New"/>
              </a:rPr>
              <a:t>setRenderParameter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("</a:t>
            </a:r>
            <a:r>
              <a:rPr b="1" lang="fr-FR" sz="2200" spc="-1" strike="noStrike">
                <a:solidFill>
                  <a:srgbClr val="1a2fad"/>
                </a:solidFill>
                <a:latin typeface="Courier New"/>
              </a:rPr>
              <a:t>mvcPath</a:t>
            </a:r>
            <a:r>
              <a:rPr b="0" lang="fr-FR" sz="2200" spc="-1" strike="noStrike">
                <a:solidFill>
                  <a:srgbClr val="000000"/>
                </a:solidFill>
                <a:latin typeface="Courier New"/>
              </a:rPr>
              <a:t>", "/edit.jsp");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Validation : concepts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Validation « métier » dans </a:t>
            </a: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MVCActionCommand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Utilitaires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511ac"/>
                </a:solidFill>
                <a:latin typeface="Calibri"/>
              </a:rPr>
              <a:t>ParamUtil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511ac"/>
                </a:solidFill>
                <a:latin typeface="Calibri"/>
              </a:rPr>
              <a:t>Validator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Messages 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Erreurs : SessionErrors.add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Information : SessionMessages.add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Affichage dans la JSP via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ourier New"/>
              </a:rPr>
              <a:t>&lt;</a:t>
            </a:r>
            <a:r>
              <a:rPr b="1" i="1" lang="fr-FR" sz="2100" spc="-1" strike="noStrike">
                <a:solidFill>
                  <a:srgbClr val="1511ac"/>
                </a:solidFill>
                <a:latin typeface="Courier New"/>
              </a:rPr>
              <a:t>liferay-ui:error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2100" spc="-1" strike="noStrike">
                <a:solidFill>
                  <a:srgbClr val="1511ac"/>
                </a:solidFill>
                <a:latin typeface="Courier New"/>
              </a:rPr>
              <a:t>&lt;liferay-ui:success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Validation côté service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La couche service gère la validation avancée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En cas d’erreur → exception métier (ex. </a:t>
            </a: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EntryValidationException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Permet une validation centralisée, réutilisable via APIs REST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780120" y="677088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9 : Portlet MVC avec validation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Service Builder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REST Builder et Client Extensions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Sécurité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Extensions : Asset, Thèmes,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Objectifs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Définir un modèle métier avec </a:t>
            </a:r>
            <a:r>
              <a:rPr b="1" i="1" lang="fr-FR" sz="3200" spc="-1" strike="noStrike">
                <a:solidFill>
                  <a:srgbClr val="1a2fad"/>
                </a:solidFill>
                <a:latin typeface="Calibri"/>
              </a:rPr>
              <a:t>service.xml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1a2fad"/>
                </a:solidFill>
                <a:latin typeface="Calibri"/>
              </a:rPr>
              <a:t>Générer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 tables, modèle, persistance &amp; services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1a2fad"/>
                </a:solidFill>
                <a:latin typeface="Calibri"/>
              </a:rPr>
              <a:t>Implémenter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 règles métier dans la couche service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3200" spc="-1" strike="noStrike">
                <a:solidFill>
                  <a:srgbClr val="1a2fad"/>
                </a:solidFill>
                <a:latin typeface="Calibri"/>
              </a:rPr>
              <a:t>Exposer</a:t>
            </a: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 des APIs distantes modernes RestFul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Calibri"/>
              </a:rPr>
              <a:t>Etapes de mise en place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Décrire le domaine dans </a:t>
            </a:r>
            <a:r>
              <a:rPr b="1" i="1" lang="fr-FR" sz="2800" spc="-1" strike="noStrike">
                <a:solidFill>
                  <a:srgbClr val="1511ac"/>
                </a:solidFill>
                <a:latin typeface="Calibri"/>
              </a:rPr>
              <a:t>service.xml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Exécuter </a:t>
            </a:r>
            <a:r>
              <a:rPr b="1" i="1" lang="fr-FR" sz="2800" spc="-1" strike="noStrike">
                <a:solidFill>
                  <a:srgbClr val="1511ac"/>
                </a:solidFill>
                <a:latin typeface="Calibri"/>
              </a:rPr>
              <a:t>gradlew buildService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Compléter </a:t>
            </a:r>
            <a:r>
              <a:rPr b="1" i="1" lang="fr-FR" sz="2800" spc="-1" strike="noStrike">
                <a:solidFill>
                  <a:srgbClr val="1511ac"/>
                </a:solidFill>
                <a:latin typeface="Calibri"/>
              </a:rPr>
              <a:t>LocalServiceImpl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avec la logique métier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Appeler le service depuis les portlets / remote apps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000" spc="-1" strike="noStrike">
                <a:solidFill>
                  <a:srgbClr val="000000"/>
                </a:solidFill>
                <a:latin typeface="Calibri"/>
              </a:rPr>
              <a:t>Exemple d’entité</a:t>
            </a:r>
            <a:endParaRPr b="0" lang="fr-F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&lt;entity </a:t>
            </a: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name="Event"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local-service="true" remote-service="false"&gt;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1" lang="fr-FR" sz="18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 !-- Colonnes identifiantes --&gt;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&lt;column name="eventId" type="long" primary="true" 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&lt;column name="groupId" type="long" 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&lt;column name="companyId" type="long" 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&lt;column name="userId" type="long" 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1" lang="fr-FR" sz="18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 !-- Champs spécifiques --&gt;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&lt;column name="name" type="String" 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&lt;column name="date" type="Date" 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    </a:t>
            </a:r>
            <a:r>
              <a:rPr b="1" lang="fr-FR" sz="18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 !-- Requêtes --&gt;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&lt;finder name="GroupId" return-type="Collection"&gt;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&lt;finder-column name="groupId"/&gt;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&lt;/finder&gt;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&lt;/entity&gt;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Tables générées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Table SQL : même nom que l’entité préfixé par le namespace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Avec colonnes auto-gérées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companyId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groupId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userId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uuid_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createDate, modifiedDate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1090800" y="1146960"/>
            <a:ext cx="8508600" cy="1271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9710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400" spc="128" strike="noStrike">
                <a:solidFill>
                  <a:schemeClr val="dk1"/>
                </a:solidFill>
                <a:latin typeface="Arial"/>
              </a:rPr>
              <a:t>Fichiers</a:t>
            </a:r>
            <a:r>
              <a:rPr b="0" lang="fr-FR" sz="4400" spc="154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fr-FR" sz="4400" spc="208" strike="noStrike">
                <a:solidFill>
                  <a:schemeClr val="dk1"/>
                </a:solidFill>
                <a:latin typeface="Arial"/>
              </a:rPr>
              <a:t>générés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 type="sldNum" idx="99"/>
          </p:nvPr>
        </p:nvSpPr>
        <p:spPr>
          <a:xfrm>
            <a:off x="10069920" y="7229160"/>
            <a:ext cx="543240" cy="438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26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8160" indent="0">
              <a:lnSpc>
                <a:spcPts val="2721"/>
              </a:lnSpc>
              <a:buNone/>
              <a:tabLst>
                <a:tab algn="l" pos="0"/>
              </a:tabLst>
            </a:pPr>
            <a:fld id="{792E3E21-12CE-4F8A-AA8D-9EC4286760E8}" type="slidenum">
              <a:rPr b="0" lang="fr-FR" sz="2400" spc="-26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8" name="object 18"/>
          <p:cNvSpPr/>
          <p:nvPr/>
        </p:nvSpPr>
        <p:spPr>
          <a:xfrm>
            <a:off x="872640" y="1980000"/>
            <a:ext cx="8126280" cy="53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440" bIns="0" anchor="t">
            <a:spAutoFit/>
          </a:bodyPr>
          <a:p>
            <a:pPr marL="346680" indent="-334080">
              <a:lnSpc>
                <a:spcPts val="2769"/>
              </a:lnSpc>
              <a:spcBef>
                <a:spcPts val="366"/>
              </a:spcBef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La commande </a:t>
            </a:r>
            <a:r>
              <a:rPr b="0" i="1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blade</a:t>
            </a: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 de création de projet génère 2 modules :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lvl="1" marL="346680" indent="-334080">
              <a:lnSpc>
                <a:spcPts val="2769"/>
              </a:lnSpc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Module </a:t>
            </a:r>
            <a:r>
              <a:rPr b="1" lang="fr-FR" sz="2450" spc="77" strike="noStrike">
                <a:solidFill>
                  <a:srgbClr val="1a2fad"/>
                </a:solidFill>
                <a:latin typeface="Arial"/>
                <a:ea typeface="DejaVu Sans"/>
              </a:rPr>
              <a:t>Service</a:t>
            </a: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 contenant </a:t>
            </a:r>
            <a:r>
              <a:rPr b="0" i="1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service.xml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lvl="1" marL="346680" indent="-334080">
              <a:lnSpc>
                <a:spcPts val="2769"/>
              </a:lnSpc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Module </a:t>
            </a:r>
            <a:r>
              <a:rPr b="1" lang="fr-FR" sz="2450" spc="77" strike="noStrike">
                <a:solidFill>
                  <a:srgbClr val="1a2fad"/>
                </a:solidFill>
                <a:latin typeface="Arial"/>
                <a:ea typeface="DejaVu Sans"/>
              </a:rPr>
              <a:t>API</a:t>
            </a: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 qui reflète les méthodes qui sont implémentées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marL="346680" indent="-334080">
              <a:lnSpc>
                <a:spcPts val="2769"/>
              </a:lnSpc>
              <a:spcBef>
                <a:spcPts val="366"/>
              </a:spcBef>
              <a:tabLst>
                <a:tab algn="l" pos="0"/>
              </a:tabLst>
            </a:pP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marL="346680" indent="-334080">
              <a:lnSpc>
                <a:spcPts val="2769"/>
              </a:lnSpc>
              <a:spcBef>
                <a:spcPts val="366"/>
              </a:spcBef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Après avoir mis au point service.xml, on génère les classes via une commande Gradle </a:t>
            </a:r>
            <a:br>
              <a:rPr sz="2450"/>
            </a:br>
            <a:r>
              <a:rPr b="0" i="1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./gradlew buildService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marL="346680" indent="-334080">
              <a:lnSpc>
                <a:spcPts val="2769"/>
              </a:lnSpc>
              <a:spcBef>
                <a:spcPts val="366"/>
              </a:spcBef>
              <a:tabLst>
                <a:tab algn="l" pos="0"/>
              </a:tabLst>
            </a:pP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marL="346680" indent="-334080">
              <a:lnSpc>
                <a:spcPts val="2769"/>
              </a:lnSpc>
              <a:spcBef>
                <a:spcPts val="366"/>
              </a:spcBef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Les classes sont générées dans les 2 modules :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lvl="1" marL="346680" indent="-334080">
              <a:lnSpc>
                <a:spcPts val="2769"/>
              </a:lnSpc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Service : Classes </a:t>
            </a:r>
            <a:r>
              <a:rPr b="1" lang="fr-FR" sz="2450" spc="77" strike="noStrike">
                <a:solidFill>
                  <a:srgbClr val="1a2fad"/>
                </a:solidFill>
                <a:latin typeface="Arial"/>
                <a:ea typeface="DejaVu Sans"/>
              </a:rPr>
              <a:t>d’implémentation</a:t>
            </a: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 appliquant des patterns classiques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  <a:p>
            <a:pPr lvl="1" marL="346680" indent="-334080">
              <a:lnSpc>
                <a:spcPts val="2769"/>
              </a:lnSpc>
              <a:spcBef>
                <a:spcPts val="366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API : </a:t>
            </a:r>
            <a:r>
              <a:rPr b="1" lang="fr-FR" sz="2450" spc="77" strike="noStrike">
                <a:solidFill>
                  <a:srgbClr val="1a2fad"/>
                </a:solidFill>
                <a:latin typeface="Arial"/>
                <a:ea typeface="DejaVu Sans"/>
              </a:rPr>
              <a:t>Interfaces</a:t>
            </a:r>
            <a:r>
              <a:rPr b="0" lang="fr-FR" sz="2450" spc="77" strike="noStrike">
                <a:solidFill>
                  <a:srgbClr val="000000"/>
                </a:solidFill>
                <a:latin typeface="Arial"/>
                <a:ea typeface="DejaVu Sans"/>
              </a:rPr>
              <a:t> utilisées</a:t>
            </a:r>
            <a:endParaRPr b="0" lang="fr-FR" sz="2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Principales interfaces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interfaces sont utilisées par les autres modules. Elles sont organisées en package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Model : </a:t>
            </a:r>
            <a:r>
              <a:rPr b="1" i="1" lang="fr-FR" sz="2800" spc="-1" strike="noStrike">
                <a:solidFill>
                  <a:srgbClr val="1a2fad"/>
                </a:solidFill>
                <a:latin typeface="Arial"/>
                <a:ea typeface="Noto Sans CJK SC"/>
              </a:rPr>
              <a:t>&lt;Entity&gt;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Service :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2400" spc="-1" strike="noStrike">
                <a:solidFill>
                  <a:srgbClr val="1a2fad"/>
                </a:solidFill>
                <a:latin typeface="Arial"/>
                <a:ea typeface="Noto Sans CJK SC"/>
              </a:rPr>
              <a:t>EventLocalService 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: Les méthodes exposées et utilisables par les autres modules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2400" spc="-1" strike="noStrike">
                <a:solidFill>
                  <a:srgbClr val="1a2fad"/>
                </a:solidFill>
                <a:latin typeface="Arial"/>
                <a:ea typeface="Noto Sans CJK SC"/>
              </a:rPr>
              <a:t>EventPersistence 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  <a:ea typeface="Noto Sans CJK SC"/>
              </a:rPr>
              <a:t>: Interface pour gérer la persistance de l’entité utilisée par l’implémentation du service 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090800" y="570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400" spc="194" strike="noStrike">
                <a:solidFill>
                  <a:schemeClr val="dk1"/>
                </a:solidFill>
                <a:latin typeface="Arial"/>
              </a:rPr>
              <a:t>Implémentation du Service</a:t>
            </a:r>
            <a:r>
              <a:rPr b="0" lang="fr-FR" sz="4400" spc="148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fr-FR" sz="4400" spc="202" strike="noStrike">
                <a:solidFill>
                  <a:schemeClr val="dk1"/>
                </a:solidFill>
                <a:latin typeface="Arial"/>
              </a:rPr>
              <a:t>local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/>
          </p:nvPr>
        </p:nvSpPr>
        <p:spPr>
          <a:xfrm>
            <a:off x="534600" y="1767960"/>
            <a:ext cx="9621000" cy="542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000"/>
          </a:bodyPr>
          <a:p>
            <a:pPr indent="0">
              <a:lnSpc>
                <a:spcPct val="100000"/>
              </a:lnSpc>
              <a:spcBef>
                <a:spcPts val="111"/>
              </a:spcBef>
              <a:buNone/>
              <a:tabLst>
                <a:tab algn="l" pos="0"/>
              </a:tabLst>
            </a:pPr>
            <a:r>
              <a:rPr b="0" lang="fr-FR" sz="3200" spc="49" strike="noStrike">
                <a:solidFill>
                  <a:srgbClr val="000000"/>
                </a:solidFill>
                <a:latin typeface="Arial"/>
              </a:rPr>
              <a:t>Dans le module service, </a:t>
            </a:r>
            <a:r>
              <a:rPr b="0" i="1" lang="fr-FR" sz="3200" spc="49" strike="noStrike">
                <a:solidFill>
                  <a:srgbClr val="000000"/>
                </a:solidFill>
                <a:latin typeface="Arial"/>
              </a:rPr>
              <a:t>ServiceBuilder</a:t>
            </a:r>
            <a:r>
              <a:rPr b="0" i="1" lang="fr-FR" sz="32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3200" spc="83" strike="noStrike">
                <a:solidFill>
                  <a:srgbClr val="000000"/>
                </a:solidFill>
                <a:latin typeface="Arial"/>
              </a:rPr>
              <a:t>génère l’implémentation</a:t>
            </a:r>
            <a:r>
              <a:rPr b="0" lang="fr-FR" sz="3200" spc="7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fr-FR" sz="2800" spc="180" strike="noStrike">
                <a:solidFill>
                  <a:srgbClr val="00007f"/>
                </a:solidFill>
                <a:latin typeface="Gill Sans MT"/>
              </a:rPr>
              <a:t>&lt;Entity&gt;LocalServiceImpl</a:t>
            </a:r>
            <a:r>
              <a:rPr b="1" i="1" lang="fr-FR" sz="2800" spc="58" strike="noStrike">
                <a:solidFill>
                  <a:srgbClr val="00007f"/>
                </a:solidFill>
                <a:latin typeface="Gill Sans MT"/>
              </a:rPr>
              <a:t> </a:t>
            </a:r>
            <a:r>
              <a:rPr b="0" lang="fr-FR" sz="2800" spc="63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fr-FR" sz="2800" spc="69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52" strike="noStrike">
                <a:solidFill>
                  <a:srgbClr val="000000"/>
                </a:solidFill>
                <a:latin typeface="Arial"/>
              </a:rPr>
              <a:t>C'est</a:t>
            </a:r>
            <a:r>
              <a:rPr b="0" lang="fr-FR" sz="2800" spc="63" strike="noStrike">
                <a:solidFill>
                  <a:srgbClr val="000000"/>
                </a:solidFill>
                <a:latin typeface="Arial"/>
              </a:rPr>
              <a:t> la</a:t>
            </a:r>
            <a:r>
              <a:rPr b="0" lang="fr-FR" sz="2800" spc="6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800" spc="38" strike="noStrike">
                <a:solidFill>
                  <a:srgbClr val="000000"/>
                </a:solidFill>
                <a:latin typeface="Arial"/>
              </a:rPr>
              <a:t>classe</a:t>
            </a:r>
            <a:r>
              <a:rPr b="0" lang="fr-FR" sz="2800" spc="63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800" spc="52" strike="noStrike">
                <a:solidFill>
                  <a:srgbClr val="000000"/>
                </a:solidFill>
                <a:latin typeface="Arial"/>
              </a:rPr>
              <a:t>que </a:t>
            </a:r>
            <a:r>
              <a:rPr b="0" lang="fr-FR" sz="2800" spc="83" strike="noStrike">
                <a:solidFill>
                  <a:srgbClr val="000000"/>
                </a:solidFill>
                <a:latin typeface="Arial"/>
              </a:rPr>
              <a:t>l'on</a:t>
            </a:r>
            <a:r>
              <a:rPr b="0" lang="fr-FR" sz="2800" spc="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800" spc="97" strike="noStrike">
                <a:solidFill>
                  <a:srgbClr val="000000"/>
                </a:solidFill>
                <a:latin typeface="Arial"/>
              </a:rPr>
              <a:t>peut</a:t>
            </a:r>
            <a:r>
              <a:rPr b="0" lang="fr-FR" sz="2800" spc="4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800" spc="63" strike="noStrike">
                <a:solidFill>
                  <a:srgbClr val="000000"/>
                </a:solidFill>
                <a:latin typeface="Arial"/>
              </a:rPr>
              <a:t>modifier en y ajoutant des méthodes métier.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58" strike="noStrike">
                <a:solidFill>
                  <a:srgbClr val="000000"/>
                </a:solidFill>
                <a:latin typeface="Arial"/>
              </a:rPr>
              <a:t>ServiceBuilder</a:t>
            </a:r>
            <a:r>
              <a:rPr b="0" lang="fr-FR" sz="2800" spc="52" strike="noStrike">
                <a:solidFill>
                  <a:srgbClr val="000000"/>
                </a:solidFill>
                <a:latin typeface="Arial"/>
              </a:rPr>
              <a:t> synchronise automatiquement</a:t>
            </a:r>
            <a:r>
              <a:rPr b="0" lang="fr-FR" sz="2800" spc="38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800" spc="69" strike="noStrike">
                <a:solidFill>
                  <a:srgbClr val="000000"/>
                </a:solidFill>
                <a:latin typeface="Arial"/>
              </a:rPr>
              <a:t>l'interface publiée.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12600" indent="0">
              <a:lnSpc>
                <a:spcPts val="1913"/>
              </a:lnSpc>
              <a:spcBef>
                <a:spcPts val="961"/>
              </a:spcBef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12600" indent="-324000">
              <a:lnSpc>
                <a:spcPct val="100000"/>
              </a:lnSpc>
              <a:spcBef>
                <a:spcPts val="11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69" strike="noStrike">
                <a:solidFill>
                  <a:srgbClr val="000000"/>
                </a:solidFill>
                <a:latin typeface="Arial"/>
                <a:ea typeface="Noto Sans CJK SC"/>
              </a:rPr>
              <a:t>Le code gère automatiquement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69" strike="noStrike">
                <a:solidFill>
                  <a:srgbClr val="000000"/>
                </a:solidFill>
                <a:latin typeface="Arial"/>
                <a:ea typeface="Noto Sans CJK SC"/>
              </a:rPr>
              <a:t>Transactions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69" strike="noStrike">
                <a:solidFill>
                  <a:srgbClr val="000000"/>
                </a:solidFill>
                <a:latin typeface="Arial"/>
                <a:ea typeface="Noto Sans CJK SC"/>
              </a:rPr>
              <a:t>Injections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69" strike="noStrike">
                <a:solidFill>
                  <a:srgbClr val="000000"/>
                </a:solidFill>
                <a:latin typeface="Arial"/>
                <a:ea typeface="Noto Sans CJK SC"/>
              </a:rPr>
              <a:t>Permissions (si intégrées)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1090800" y="1146960"/>
            <a:ext cx="8508600" cy="1271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0348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400" spc="208" strike="noStrike">
                <a:solidFill>
                  <a:schemeClr val="dk1"/>
                </a:solidFill>
                <a:latin typeface="Arial"/>
              </a:rPr>
              <a:t>Exemple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 type="sldNum" idx="100"/>
          </p:nvPr>
        </p:nvSpPr>
        <p:spPr>
          <a:xfrm>
            <a:off x="10069920" y="7229160"/>
            <a:ext cx="543240" cy="438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26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8160" indent="0">
              <a:lnSpc>
                <a:spcPts val="2721"/>
              </a:lnSpc>
              <a:buNone/>
              <a:tabLst>
                <a:tab algn="l" pos="0"/>
              </a:tabLst>
            </a:pPr>
            <a:fld id="{018B60E5-B1F7-499E-8E20-1AE51B16A59E}" type="slidenum">
              <a:rPr b="0" lang="fr-FR" sz="2400" spc="-26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5" name="object 52"/>
          <p:cNvSpPr/>
          <p:nvPr/>
        </p:nvSpPr>
        <p:spPr>
          <a:xfrm>
            <a:off x="1079640" y="2249280"/>
            <a:ext cx="8343000" cy="45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520" bIns="0" anchor="t">
            <a:spAutoFit/>
          </a:bodyPr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public Event addEvent(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long userId, long groupId, String name, Date date,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ServiceContext sc) throws PortalException {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long eventId = </a:t>
            </a:r>
            <a:r>
              <a:rPr b="1" lang="fr-FR" sz="1600" spc="-52" strike="noStrike">
                <a:solidFill>
                  <a:srgbClr val="1511ac"/>
                </a:solidFill>
                <a:latin typeface="Courier New"/>
                <a:ea typeface="DejaVu Sans"/>
              </a:rPr>
              <a:t>counterLocalService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.increment(Event.class.getName());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Event event = </a:t>
            </a:r>
            <a:r>
              <a:rPr b="1" lang="fr-FR" sz="1600" spc="-52" strike="noStrike">
                <a:solidFill>
                  <a:srgbClr val="1511ac"/>
                </a:solidFill>
                <a:latin typeface="Courier New"/>
                <a:ea typeface="DejaVu Sans"/>
              </a:rPr>
              <a:t>eventPersistence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.create(eventId);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event.setGroupId(groupId);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event.setCompanyId(sc.getCompanyId());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event.setUserId(userId);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event.setName(name);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event.setDate(date);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return super.addEvent(event);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r>
              <a:rPr b="0" lang="fr-FR" sz="1600" spc="-52" strike="noStrike">
                <a:solidFill>
                  <a:srgbClr val="000000"/>
                </a:solidFill>
                <a:latin typeface="Courier New"/>
                <a:ea typeface="DejaVu Sans"/>
              </a:rPr>
              <a:t>}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152280" indent="-139680">
              <a:lnSpc>
                <a:spcPct val="102000"/>
              </a:lnSpc>
              <a:spcBef>
                <a:spcPts val="91"/>
              </a:spcBef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PlaceHolder 1"/>
          <p:cNvSpPr>
            <a:spLocks noGrp="1"/>
          </p:cNvSpPr>
          <p:nvPr>
            <p:ph type="title"/>
          </p:nvPr>
        </p:nvSpPr>
        <p:spPr>
          <a:xfrm>
            <a:off x="1090800" y="114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4200" spc="-1" strike="noStrike">
                <a:solidFill>
                  <a:srgbClr val="000000"/>
                </a:solidFill>
                <a:latin typeface="Calibri"/>
              </a:rPr>
              <a:t>Utiliser des services</a:t>
            </a:r>
            <a:endParaRPr b="0" lang="fr-F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2 alternatives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Utiliser directement le service en </a:t>
            </a:r>
            <a:r>
              <a:rPr b="1" lang="fr-FR" sz="2600" spc="-1" strike="noStrike">
                <a:solidFill>
                  <a:srgbClr val="1a2fad"/>
                </a:solidFill>
                <a:latin typeface="Calibri"/>
              </a:rPr>
              <a:t>local</a:t>
            </a: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.</a:t>
            </a:r>
            <a:br>
              <a:rPr sz="2600"/>
            </a:b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Le module portlet a une dépendance sur l’api et se fait injecter le service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Accéder au service en mode remote 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000" spc="-1" strike="noStrike">
                <a:solidFill>
                  <a:srgbClr val="1a2fad"/>
                </a:solidFill>
                <a:latin typeface="Calibri"/>
              </a:rPr>
              <a:t>SOAP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= héritage, non recommandé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fr-FR" sz="2000" spc="-1" strike="noStrike">
                <a:solidFill>
                  <a:srgbClr val="1a2fad"/>
                </a:solidFill>
                <a:latin typeface="Calibri"/>
              </a:rPr>
              <a:t>JSON Web Services/JAX-RS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, éventuellement à désactiver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Solution moderne = </a:t>
            </a:r>
            <a:r>
              <a:rPr b="1" lang="fr-FR" sz="2000" spc="-1" strike="noStrike">
                <a:solidFill>
                  <a:srgbClr val="1a2fad"/>
                </a:solidFill>
                <a:latin typeface="Calibri"/>
              </a:rPr>
              <a:t>REST Builder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 : Documentation automatique OpenAPI, Sécurisation OAuth2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Intégration portlet du serviceLocal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Ajouter la dépendance vers l’API dans build.gradle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S’injecter l’interface via OSGI</a:t>
            </a:r>
            <a:br>
              <a:rPr sz="3200"/>
            </a:b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@Reference</a:t>
            </a:r>
            <a:br>
              <a:rPr sz="2000"/>
            </a:b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private EventLocalService _eventLocalService;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Utiliser les méthodes dans les méthodes des portlets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736200" y="677088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11 :Couche Service via ServiceBuilder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Service Builder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REST Builder et Client Extensions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Sécurité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Extensions : Asset, Thèmes,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RestBuilder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La commande blade de démarrage de projet crée 2 modules principaux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Api 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: Contient les interfaces de service REST et les DTO. 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C'est là que l’on définit les ressources (méthodes GET, POST, etc.).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a2fad"/>
                </a:solidFill>
                <a:latin typeface="Arial"/>
              </a:rPr>
              <a:t>Impl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Contient l'implémentation de ces services REST. </a:t>
            </a:r>
            <a:br>
              <a:rPr sz="2800"/>
            </a:b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C'est là que l’on injecte le Service local et que l’on fait le mapping entre vos entités Service Builder et les DTO Headless.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Définition du contrat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fichier -api/src/main/resources/</a:t>
            </a:r>
            <a:r>
              <a:rPr b="1" i="1" lang="fr-FR" sz="3200" spc="-1" strike="noStrike">
                <a:solidFill>
                  <a:srgbClr val="1a2fad"/>
                </a:solidFill>
                <a:latin typeface="Arial"/>
              </a:rPr>
              <a:t>rest-openapi.yaml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permet de définir le contrat en OpenAPI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Ensuite, </a:t>
            </a:r>
            <a:r>
              <a:rPr b="1" i="1" lang="fr-FR" sz="3200" spc="-1" strike="noStrike">
                <a:solidFill>
                  <a:srgbClr val="1a2fad"/>
                </a:solidFill>
                <a:latin typeface="Arial"/>
              </a:rPr>
              <a:t>./gradlew clean buildRest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permet de générer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classes DTO Java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L'interface Java de votre service Headless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 squelette de la classe d'implémentation dans le sous-module </a:t>
            </a:r>
            <a:r>
              <a:rPr b="1" i="1" lang="fr-FR" sz="2800" spc="-1" strike="noStrike">
                <a:solidFill>
                  <a:srgbClr val="1a2fad"/>
                </a:solidFill>
                <a:latin typeface="Arial"/>
              </a:rPr>
              <a:t>-impl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Toute la configuration JAX-RS (Application avec les propriétés OSGi) nécessaire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Implémentation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De la même façon, l’implémentation a une dépendance sur l’API du service et se fait injecter le service local existant par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Elle est également responsable de mapping entre classe du modèle et DTP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Exemple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PlaceHolder 2"/>
          <p:cNvSpPr>
            <a:spLocks noGrp="1"/>
          </p:cNvSpPr>
          <p:nvPr>
            <p:ph/>
          </p:nvPr>
        </p:nvSpPr>
        <p:spPr>
          <a:xfrm>
            <a:off x="720000" y="2083320"/>
            <a:ext cx="8793000" cy="457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3333" lnSpcReduction="10000"/>
          </a:bodyPr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public class EventResourceImpl </a:t>
            </a:r>
            <a:r>
              <a:rPr b="1" lang="fr-FR" sz="3200" spc="-1" strike="noStrike">
                <a:solidFill>
                  <a:srgbClr val="1a2fad"/>
                </a:solidFill>
                <a:latin typeface="Courier New"/>
              </a:rPr>
              <a:t>extends BaseEventResourceImpl</a:t>
            </a: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 {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a2fad"/>
                </a:solidFill>
                <a:latin typeface="Courier New"/>
              </a:rPr>
              <a:t>@Reference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a2fad"/>
                </a:solidFill>
                <a:latin typeface="Courier New"/>
              </a:rPr>
              <a:t>private EventLocalService _eventLocalService;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a2fad"/>
                </a:solidFill>
                <a:latin typeface="Courier New"/>
              </a:rPr>
              <a:t>@Override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public Page&lt;Event&gt; getEventsPage(Long groupId) throws Exception {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069a2e"/>
                </a:solidFill>
                <a:latin typeface="Courier New"/>
              </a:rPr>
              <a:t>// Appel du service local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List&lt;org.formation.event.model.Event&gt; events =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_eventLocalService.getEvents(groupId, 0, 20);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069a2e"/>
                </a:solidFill>
                <a:latin typeface="Courier New"/>
              </a:rPr>
              <a:t>// Mapper la liste d'entités en liste de DTO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List&lt;Event&gt; eventDTOs = events.stream()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.map(this::toEventDTO)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.collect(Collectors.toList());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069a2e"/>
                </a:solidFill>
                <a:latin typeface="Courier New"/>
              </a:rPr>
              <a:t>// ENVELOPPER le tout dans l'objet Page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return Page.of(eventDTOs);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453600" y="677088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12.1 : Service Restful via RestBuilder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Client extensions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3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Dans les récentes versions de Liferay, une alternative au portlet est proposée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frontend est alors développé avec des technologies standards (React, Vue, Angular ou Vanilla JS) et communique avec Liferay via des APIs REST.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Avantages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Indépendance technologique : Pas besoin de compétences Java pour créer une interface.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Sécurité du Core : Le code personnalisé s'exécute dans le navigateur ou sur un serveur distant, sans risque de faire "tomber" le portail.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Mise à jour simplifiée : On peut modifier le frontend sans redémarrer le serveur Liferay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PlaceHolder 1"/>
          <p:cNvSpPr>
            <a:spLocks noGrp="1"/>
          </p:cNvSpPr>
          <p:nvPr>
            <p:ph type="title"/>
          </p:nvPr>
        </p:nvSpPr>
        <p:spPr>
          <a:xfrm>
            <a:off x="1090800" y="508680"/>
            <a:ext cx="850860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Anatomie d'un "Élément Personnalisé"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Pour que Liferay affiche l’application JS comme un Widget, 3 éléments sont nécessaires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e31c9"/>
                </a:solidFill>
                <a:latin typeface="Arial"/>
              </a:rPr>
              <a:t>Le Code (index.js)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Un Web Component standard (CustomElement) qui contient la logique et le rendu HTML.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e31c9"/>
                </a:solidFill>
                <a:latin typeface="Arial"/>
              </a:rPr>
              <a:t>La Déclaration (YAML ou UI)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On définit l'identité de l'application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2400" spc="-1" strike="noStrike">
                <a:solidFill>
                  <a:srgbClr val="1e31c9"/>
                </a:solidFill>
                <a:latin typeface="Arial"/>
              </a:rPr>
              <a:t>htmlElementName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 : Le tag HTML unique (ex: &lt;my-app&gt;).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i="1" lang="fr-FR" sz="2400" spc="-1" strike="noStrike">
                <a:solidFill>
                  <a:srgbClr val="1e31c9"/>
                </a:solidFill>
                <a:latin typeface="Arial"/>
              </a:rPr>
              <a:t>url</a:t>
            </a: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 : Le chemin vers le fichier JavaScript.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lang="fr-FR" sz="2800" spc="-1" strike="noStrike">
                <a:solidFill>
                  <a:srgbClr val="1e31c9"/>
                </a:solidFill>
                <a:latin typeface="Arial"/>
              </a:rPr>
              <a:t>Le Rendu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Liferay injecte automatiquement la balise et le script sur la page. Le navigateur instancie alors l'application.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1090800" y="508680"/>
            <a:ext cx="850860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Communication Liferay et Authentification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3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Appels API : Utilisation de l'API fetch() vers les endpoints natifs (ex: /o/c/evenements).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Sécurité native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L'application étant sur le même domaine, elle bénéficie des cookies de session.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 Jeton (Auth Token) : Liferay fournit un objet global Liferay.authToken pour sécuriser les requêtes contre les failles CSRF.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Cycle de vie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L'utilisateur charge la page.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 composant JS est monté.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 composant appelle l'API REST des événements.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données sont affichées dans le widget.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Autres types de client extension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PlaceHolder 2"/>
          <p:cNvSpPr>
            <a:spLocks noGrp="1"/>
          </p:cNvSpPr>
          <p:nvPr>
            <p:ph/>
          </p:nvPr>
        </p:nvSpPr>
        <p:spPr>
          <a:xfrm>
            <a:off x="944280" y="1939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6666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extensions d'UI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Custom Element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JS / CSS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Permet d'injecter des fichiers JavaScript ou des feuilles de style globalement sur le portail ou sur une page spécifique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Theme CSS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Spécifique pour surcharger les variables CSS d'un thème sans avoir à créer un thème complet.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extensions de "Logique" et Data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Batch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Permet d'importer massivement des données (Utilisateurs, Objets, Entrées de blog) via des fichiers JSON au moment du déploiement.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Object Action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Permet d'appeler une URL externe (une fonction Lambda, une API Node.js) dès qu'un événement survient dans Liferay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Workflow Action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Similaire aux actions d'objet, mais déclenché lors des étapes d'un flux de validation.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extensions de Configuration et Traduction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I18n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Permet d'ajouter de nouvelles clés de traduction pour le portail ou d'écraser les traductions natives de Liferay.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Configuration de l'éditeur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: Permet de personnaliser les barres d'outils de l'éditeur de texte riche (CKEditor) pour ajouter ou supprimer des boutons.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62640" y="7061760"/>
            <a:ext cx="32598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12.2 : CustomElement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Service Builder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REST Builder et Client Extensions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Sécurité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Extensions : Asset, Thèmes,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Principes des permissions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PlaceHolder 2"/>
          <p:cNvSpPr>
            <a:spLocks noGrp="1"/>
          </p:cNvSpPr>
          <p:nvPr>
            <p:ph/>
          </p:nvPr>
        </p:nvSpPr>
        <p:spPr>
          <a:xfrm>
            <a:off x="534600" y="209772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2777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une permission répond toujours à la question :</a:t>
            </a:r>
            <a:br>
              <a:rPr sz="3200"/>
            </a:b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“Qui peut faire quoi sur quoi ?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Liferay combine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utilisateurs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rôles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ressources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des actions (VIEW, UPDATE, DELETE…)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même moteur de permissions est utilisé pour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pages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contenus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portlets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APIs REST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Modèle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/>
          </p:nvPr>
        </p:nvSpPr>
        <p:spPr>
          <a:xfrm>
            <a:off x="534600" y="1983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Ressource : un objet à sécuriser</a:t>
            </a:r>
            <a:br>
              <a:rPr sz="3200"/>
            </a:b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(page, contenu, document, entité métier, API…)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Action : ce que l’on peut faire</a:t>
            </a:r>
            <a:br>
              <a:rPr sz="3200"/>
            </a:b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(VIEW, ADD, UPDATE, DELETE…)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Rôle : Affecté à un utilisateur</a:t>
            </a:r>
            <a:br>
              <a:rPr sz="3200"/>
            </a:b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Utilisateur, Administrateur, Rédacteur…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Une permission = Rôle + Action + Ressource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Déclaration des permissions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PlaceHolder 2"/>
          <p:cNvSpPr>
            <a:spLocks noGrp="1"/>
          </p:cNvSpPr>
          <p:nvPr>
            <p:ph/>
          </p:nvPr>
        </p:nvSpPr>
        <p:spPr>
          <a:xfrm>
            <a:off x="456480" y="227772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Chaque module peut (et doit) déclarer ses propres permissions dans un fichier défini par portlet.properties :</a:t>
            </a:r>
            <a:br>
              <a:rPr sz="3200"/>
            </a:br>
            <a:r>
              <a:rPr b="1" lang="fr-FR" sz="2000" spc="-1" strike="noStrike">
                <a:solidFill>
                  <a:srgbClr val="1e31c9"/>
                </a:solidFill>
                <a:latin typeface="Courier New"/>
                <a:ea typeface="Noto Sans CJK SC"/>
              </a:rPr>
              <a:t>resource.actions.configs=resource-actions/default.xml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  <a:ea typeface="Noto Sans CJK SC"/>
              </a:rPr>
              <a:t>On y définit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les actions possibles et visibles dans l’interface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  <a:ea typeface="Noto Sans CJK SC"/>
              </a:rPr>
              <a:t>les actions autorisées par défaut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Exemple portlet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PlaceHolder 2"/>
          <p:cNvSpPr>
            <a:spLocks noGrp="1"/>
          </p:cNvSpPr>
          <p:nvPr>
            <p:ph/>
          </p:nvPr>
        </p:nvSpPr>
        <p:spPr>
          <a:xfrm>
            <a:off x="540000" y="1980000"/>
            <a:ext cx="9622800" cy="50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7222"/>
          </a:bodyPr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&lt;resource-action-mapping&gt;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&lt;portlet-resource&gt;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&lt;portlet-name&gt;com_acme_events_web_portlet_EventsPortlet&lt;/portlet-name&gt;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&lt;permissions&gt;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             </a:t>
            </a:r>
            <a:r>
              <a:rPr b="0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 !</a:t>
            </a:r>
            <a:r>
              <a:rPr b="0" lang="fr-FR" sz="10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!</a:t>
            </a:r>
            <a:r>
              <a:rPr b="0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-- actions supportées --&gt;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&lt;supports&gt;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&lt;action-key&gt;ACCESS_IN_CONTROL_PANEL&lt;/action-key&gt;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&lt;action-key&gt;CONFIGURATION&lt;/action-key&gt;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&lt;action-key&gt;PERMISSIONS&lt;/action-key&gt;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&lt;/supports&gt;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&lt;site-member-defaults&gt;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&lt;/site-member-defaults&gt;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&lt;guest-defaults&gt;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&lt;/guest-defaults&gt;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             </a:t>
            </a:r>
            <a:r>
              <a:rPr b="0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 !</a:t>
            </a:r>
            <a:r>
              <a:rPr b="0" lang="fr-FR" sz="10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!</a:t>
            </a:r>
            <a:r>
              <a:rPr b="0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-- actions visibles et assignables dans l’interface --&gt;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&lt;action-key&gt;ACCESS_IN_CONTROL_PANEL&lt;/action-key&gt;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&lt;action-key&gt;CONFIGURATION&lt;/action-key&gt;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&lt;action-key&gt;PERMISSIONS&lt;/action-key&gt;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&lt;/action-keys&gt;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&lt;/permissions&gt;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&lt;/portlet-resource&gt;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&lt;/resource-action-mapping&gt;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Exemple Modèle métier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534600" y="1980000"/>
            <a:ext cx="9622800" cy="52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1111" lnSpcReduction="10000"/>
          </a:bodyPr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&lt;model-resource&gt;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&lt;model-name&gt;com.acme.events.model.Event&lt;/model-name&gt;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  </a:t>
            </a:r>
            <a:r>
              <a:rPr b="1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&lt;!-- Permissions gérées par le portlet --&gt;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&lt;portlet-ref&gt;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&lt;portlet-name&gt;com_acme_events_web_portlet_EventsPortlet&lt;/portlet-name&gt;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&lt;/portlet-ref&gt;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&lt;permissions&gt;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&lt;supports&gt;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&lt;action-key&gt;UPDATE&lt;/action-key&gt;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&lt;action-key&gt;DELETE&lt;/action-key&gt;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&lt;action-key&gt;PERMISSIONS&lt;/action-key&gt;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&lt;action-key&gt;REGISTER&lt;/action-key&gt;  </a:t>
            </a:r>
            <a:r>
              <a:rPr b="1" lang="fr-FR" sz="2400" spc="-1" strike="noStrike">
                <a:solidFill>
                  <a:srgbClr val="069a2e"/>
                </a:solidFill>
                <a:latin typeface="Courier New"/>
                <a:ea typeface="Noto Sans CJK SC"/>
              </a:rPr>
              <a:t>&lt;!-- Actions “métier” optionnelles --&gt;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&lt;/supports&gt;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&lt;site-member-defaults&gt;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&lt;/site-member-defaults&gt;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&lt;guest-defaults&gt;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&lt;/guest-defaults&gt;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&lt;guest-unsupported&gt;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&lt;action-key&gt;UPDATE&lt;/action-key&gt;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&lt;action-key&gt;DELETE&lt;/action-key&gt;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&lt;action-key&gt;REGISTER&lt;/action-key&gt;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&lt;/guest-unsupported&gt;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&lt;owner-defaults&gt;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&lt;action-key&gt;UPDATE&lt;/action-key&gt;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&lt;action-key&gt;DELETE&lt;/action-key&gt;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&lt;/owner-defaults&gt;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&lt;action-key&gt;VIEW&lt;/action-key&gt;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&lt;action-key&gt;UPDATE&lt;/action-key&gt;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&lt;action-key&gt;DELETE&lt;/action-key&gt;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&lt;action-key&gt;PERMISSIONS&lt;/action-key&gt;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&lt;action-key&gt;REGISTER&lt;/action-key&gt;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&lt;/action-keys&gt;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&lt;/permissions&gt;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  <a:ea typeface="Noto Sans CJK SC"/>
              </a:rPr>
              <a:t>&lt;/model-resource&gt;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Application des permissions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PlaceHolder 2"/>
          <p:cNvSpPr>
            <a:spLocks noGrp="1"/>
          </p:cNvSpPr>
          <p:nvPr>
            <p:ph/>
          </p:nvPr>
        </p:nvSpPr>
        <p:spPr>
          <a:xfrm>
            <a:off x="534600" y="2091960"/>
            <a:ext cx="9622800" cy="474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permissions s’appliquent à plusieurs niveaux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Dans l’interface :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cacher une ligne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désactiver un bouton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masquer une action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Dans la couche service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bloquer une modification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empêcher une suppression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Dans les APIs REST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autoriser ou refuser l’accès à une ressource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ServiceContext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/>
          </p:nvPr>
        </p:nvSpPr>
        <p:spPr>
          <a:xfrm>
            <a:off x="534600" y="194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777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contexte d’exécution </a:t>
            </a:r>
            <a:r>
              <a:rPr b="1" i="1" lang="fr-FR" sz="3200" spc="-1" strike="noStrike">
                <a:solidFill>
                  <a:srgbClr val="0e237d"/>
                </a:solidFill>
                <a:latin typeface="Arial"/>
              </a:rPr>
              <a:t>ServiceContext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véhicule les informations sur l’utilisateur et donc ses permissions associées.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Les champs de serviceContext contiennent entre autres </a:t>
            </a:r>
            <a:br>
              <a:rPr sz="3200"/>
            </a:b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userId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: Indique l’utilisateur qui effectue l’opération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scopeGroupId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:Groupe/site d’exécution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companyId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Société concernée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permissions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Définit les droits donnés à la ressource créée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assetCategoryIds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Catégories associées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assetTagNames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Tags associés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1" i="1" lang="fr-FR" sz="1800" spc="-1" strike="noStrike">
                <a:solidFill>
                  <a:srgbClr val="1511ac"/>
                </a:solidFill>
                <a:latin typeface="Calibri"/>
              </a:rPr>
              <a:t>workflowAction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 : Ex : publier ou enregistrer comme brouillon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Récupération du ServiceContext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PlaceHolder 2"/>
          <p:cNvSpPr>
            <a:spLocks noGrp="1"/>
          </p:cNvSpPr>
          <p:nvPr>
            <p:ph/>
          </p:nvPr>
        </p:nvSpPr>
        <p:spPr>
          <a:xfrm>
            <a:off x="534600" y="2019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888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Depuis une portlet MVC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ServiceContext sc =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    ServiceContextFactory.getInstance(Event.class.getName(), actionRequest);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Depuis un service, appelé dans un flux web: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ServiceContext sc =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ServiceContextThreadLocal.getServiceContext();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Ou mieux, le portlet passe l’argument ServiceContext au service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Hors Flux Web, il faut l’instancier et positionner le groupId et le userId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ServiceContext sc = new ServiceContext();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sc.setScopeGroupId(groupId);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sc.setUserId(userId);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Vérification des permissions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PlaceHolder 2"/>
          <p:cNvSpPr>
            <a:spLocks noGrp="1"/>
          </p:cNvSpPr>
          <p:nvPr>
            <p:ph/>
          </p:nvPr>
        </p:nvSpPr>
        <p:spPr>
          <a:xfrm>
            <a:off x="534600" y="1983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La vérification des permissions nécessite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 récupérer l’utilisateur courant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D’évaluer ses rôles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De vérifier s’il a le droit demandé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Cela se fait via 2 classes Java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fr-FR" sz="2800" spc="-1" strike="noStrike">
                <a:solidFill>
                  <a:srgbClr val="000000"/>
                </a:solidFill>
                <a:latin typeface="Arial"/>
              </a:rPr>
              <a:t>PermissionChecker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fr-FR" sz="2800" spc="-1" strike="noStrike">
                <a:solidFill>
                  <a:srgbClr val="000000"/>
                </a:solidFill>
                <a:latin typeface="Arial"/>
              </a:rPr>
              <a:t>ModelResourcePermission </a:t>
            </a: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qui offre une méthode </a:t>
            </a:r>
            <a:r>
              <a:rPr b="1" i="1" lang="fr-FR" sz="2800" spc="-1" strike="noStrike">
                <a:solidFill>
                  <a:srgbClr val="1e31c9"/>
                </a:solidFill>
                <a:latin typeface="Arial"/>
              </a:rPr>
              <a:t>check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résultat est un booléen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autorisé → action possible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refusé → action bloquée ou masquée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ModelResourcePermission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PlaceHolder 2"/>
          <p:cNvSpPr>
            <a:spLocks noGrp="1"/>
          </p:cNvSpPr>
          <p:nvPr>
            <p:ph/>
          </p:nvPr>
        </p:nvSpPr>
        <p:spPr>
          <a:xfrm>
            <a:off x="540000" y="198000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Pour chaque modèle métier (Event, Article, etc.), un </a:t>
            </a:r>
            <a:r>
              <a:rPr b="1" i="1" lang="fr-FR" sz="3200" spc="-1" strike="noStrike">
                <a:solidFill>
                  <a:srgbClr val="0e237d"/>
                </a:solidFill>
                <a:latin typeface="Arial"/>
              </a:rPr>
              <a:t>ModelResourcePermission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centralise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règles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la notion de propriétaire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rôles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les règles personnalisées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Toute vérification passe par lui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UI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Service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REST / GraphQL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title"/>
          </p:nvPr>
        </p:nvSpPr>
        <p:spPr>
          <a:xfrm>
            <a:off x="1090800" y="508680"/>
            <a:ext cx="8508240" cy="124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Enregistrement ModelResourcePermission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PlaceHolder 2"/>
          <p:cNvSpPr>
            <a:spLocks noGrp="1"/>
          </p:cNvSpPr>
          <p:nvPr>
            <p:ph/>
          </p:nvPr>
        </p:nvSpPr>
        <p:spPr>
          <a:xfrm>
            <a:off x="534600" y="1947960"/>
            <a:ext cx="9622800" cy="438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333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Le développeur doit exposer un service OSGI qui crée l’instance de </a:t>
            </a: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ModelResourcePermission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Lors de l’instanciation, le développeur doit renseigner 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La classe métier impliquée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La méthode permettant de récupérer l’identifiant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La méthode permettant de charger l’objet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864000" indent="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Enregistrement d’un ModelResourcePermission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222"/>
          </a:bodyPr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@Component(immediate = true)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public class EventModelResourcePermissionRegistrar {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400" spc="-1" strike="noStrike">
                <a:solidFill>
                  <a:srgbClr val="1e31c9"/>
                </a:solidFill>
                <a:latin typeface="Courier New"/>
              </a:rPr>
              <a:t>@Activate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public void activate(BundleContext bundleContext) {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Dictionary&lt;String, Object&gt; properties = new HashMapDictionary&lt;&gt;();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properties.put("model.class.name", Event.class.getName());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// Enregistrement manuel dans le registre OSGi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bundleContext.registerService(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ModelResourcePermission.class,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ModelResourcePermissionFactory.create(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Event.class,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Event::getEventId,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_eventLocalService::getEvent, 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_portletResourcePermission,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(modelResourcePermission, consumer) -&gt; { // Possibilité d'ajouter des validateurs ici }),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       </a:t>
            </a: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properties);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400" spc="-1" strike="noStrike">
                <a:solidFill>
                  <a:srgbClr val="1e31c9"/>
                </a:solidFill>
                <a:latin typeface="Courier New"/>
              </a:rPr>
              <a:t>@Deactivate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public void deactivate() { _serviceRegistration.unregister(); }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@Reference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private EventLocalService _eventLocalService;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@Reference(target = "(resource.name=com_acme_events_web_portlet_EventsPortlet)")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private PortletResourcePermission _portletResourcePermission;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4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1090800" y="508320"/>
            <a:ext cx="85082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Configuration des permissions d'un Widget (Interface)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6666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Accès à la configuration : Chaque widget (portlet) déposé sur une page possède un menu "Droits d’accès" (icône engrenage).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Onglet Permissions : Permet de définir manuellement quel rôle peut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Voir, Ajouter à la page, Configurer, Droits d’accès, ..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Configuration : Modifier les réglages propres au widget.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Permissions : Déléguer la gestion des droits de ce widget à d'autres rôles.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Portée : Ces réglages s'appliquent à l'instance spécifique du widget sur la page ou au niveau du site selon le contexte.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Déclaration des permissions (resource-actions)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Le fichier portlet.properties indique le fichier de définition des permissions :</a:t>
            </a:r>
            <a:br>
              <a:rPr sz="2000"/>
            </a:br>
            <a:r>
              <a:rPr b="1" lang="fr-FR" sz="2000" spc="-1" strike="noStrike">
                <a:solidFill>
                  <a:srgbClr val="1e31c9"/>
                </a:solidFill>
                <a:latin typeface="Courier New"/>
              </a:rPr>
              <a:t>resource.actions.configs=resource-actions/default.xml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Le fichier </a:t>
            </a:r>
            <a:r>
              <a:rPr b="1" i="1" lang="fr-FR" sz="2000" spc="-1" strike="noStrike">
                <a:solidFill>
                  <a:srgbClr val="1511ac"/>
                </a:solidFill>
                <a:latin typeface="Calibri"/>
              </a:rPr>
              <a:t>resource-actions/default.xml</a:t>
            </a: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 déclare 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les actions supportées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les actions autorisées par défaut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Permissions d’un portlet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&lt;?xml version="1.0"?&gt;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&lt;!DOCTYPE resource-action-mapping PUBLIC "-//Liferay//DTD Resource Action Mapping 7.4.0//EN" "http://www.liferay.com/dtd/liferay-resource-action-mapping_7_4_0.dtd"&gt;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&lt;resource-action-mapping&gt;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</a:t>
            </a:r>
            <a:r>
              <a:rPr b="1" lang="fr-FR" sz="1500" spc="-1" strike="noStrike">
                <a:solidFill>
                  <a:srgbClr val="1e31c9"/>
                </a:solidFill>
                <a:latin typeface="Courier New"/>
                <a:ea typeface="JetBrains Mono"/>
              </a:rPr>
              <a:t>&lt;portlet-resource&gt;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&lt;portlet-name&gt;org_formation_event_EventPortlet&lt;/portlet-name&gt;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&lt;permissions&gt;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&lt;supports&gt;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    &lt;action-key&gt;ADD_EVENT&lt;/action-key&gt;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    &lt;action-key&gt;VIEW&lt;/action-key&gt;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&lt;/supports&gt;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&lt;site-member-defaults&gt;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    &lt;action-key&gt;VIEW&lt;/action-key&gt;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    &lt;action-key&gt;ADD_EVENT&lt;/action-key&gt;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    &lt;/site-member-defaults&gt;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    &lt;/permissions&gt;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    &lt;/portlet-resource&gt;</a:t>
            </a:r>
            <a:br>
              <a:rPr sz="1500"/>
            </a:b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ourier New"/>
                <a:ea typeface="JetBrains Mono"/>
              </a:rPr>
              <a:t>&lt;/resource-action-mapping&gt;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Permissions pour une entité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&lt;model-resource&gt;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&lt;model-name&gt;com.acme.events.model.Event&lt;/model-name&gt;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&lt;permissions&gt;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&lt;supports&gt;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&lt;action-key&gt;VIEW&lt;/action-key&gt;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&lt;action-key&gt;UPDATE&lt;/action-key&gt;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&lt;action-key&gt;DELETE&lt;/action-key&gt;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&lt;/supports&gt;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&lt;/permissions&gt;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&lt;/model-resource&gt;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Fonctionnement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Lorsque Liferay reçoit une demande de permission comme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afficher une ligne dans une liste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accéder à un détail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exécuter une action via un bouton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REST / GraphQL / Service Builder check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Il appelle : </a:t>
            </a:r>
            <a:r>
              <a:rPr b="1" i="1" lang="fr-FR" sz="1500" spc="-1" strike="noStrike">
                <a:solidFill>
                  <a:srgbClr val="0e237d"/>
                </a:solidFill>
                <a:latin typeface="Calibri"/>
              </a:rPr>
              <a:t>modelResourcePermission.check. 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Par exemple :</a:t>
            </a:r>
            <a:br>
              <a:rPr sz="1500"/>
            </a:b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  modelResourcePermission.check(permissionChecker, event, ActionKeys.VIEW);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modelResourcePermission 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consulte les règles définies dans </a:t>
            </a:r>
            <a:r>
              <a:rPr b="0" i="1" lang="fr-FR" sz="1500" spc="-1" strike="noStrike">
                <a:solidFill>
                  <a:srgbClr val="000000"/>
                </a:solidFill>
                <a:latin typeface="Calibri"/>
              </a:rPr>
              <a:t>resource-actions/default.</a:t>
            </a: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xml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Vérifie si l’utilisateur a les permissions nécessaires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Applique éventuellement les règles personnalisées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Retourne Autorisé ou refusé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En fonction de la valeur de retour, Liferay cache la ligne si VIEW est refusé, désactive un bouton si UPDATE est refusé, bloque un appel REST/GraphQL, masque une action dans la management toolbar, ...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title"/>
          </p:nvPr>
        </p:nvSpPr>
        <p:spPr>
          <a:xfrm>
            <a:off x="1090800" y="1146960"/>
            <a:ext cx="8508240" cy="1271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258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fr-FR" sz="4400" spc="205" strike="noStrike">
                <a:solidFill>
                  <a:schemeClr val="dk1"/>
                </a:solidFill>
                <a:latin typeface="Arial"/>
              </a:rPr>
              <a:t>Vérification</a:t>
            </a:r>
            <a:r>
              <a:rPr b="0" lang="fr-FR" sz="4400" spc="180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fr-FR" sz="4400" spc="185" strike="noStrike">
                <a:solidFill>
                  <a:schemeClr val="dk1"/>
                </a:solidFill>
                <a:latin typeface="Arial"/>
              </a:rPr>
              <a:t>des</a:t>
            </a:r>
            <a:r>
              <a:rPr b="0" lang="fr-FR" sz="4400" spc="180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fr-FR" sz="4400" spc="205" strike="noStrike">
                <a:solidFill>
                  <a:schemeClr val="dk1"/>
                </a:solidFill>
                <a:latin typeface="Arial"/>
              </a:rPr>
              <a:t>permissions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PlaceHolder 2"/>
          <p:cNvSpPr>
            <a:spLocks noGrp="1"/>
          </p:cNvSpPr>
          <p:nvPr>
            <p:ph type="sldNum" idx="101"/>
          </p:nvPr>
        </p:nvSpPr>
        <p:spPr>
          <a:xfrm>
            <a:off x="10069920" y="7229160"/>
            <a:ext cx="542880" cy="437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 indent="0">
              <a:lnSpc>
                <a:spcPts val="2721"/>
              </a:lnSpc>
              <a:buNone/>
              <a:tabLst>
                <a:tab algn="l" pos="0"/>
              </a:tabLst>
              <a:defRPr b="0" lang="fr-FR" sz="2400" spc="-26" strike="noStrike">
                <a:solidFill>
                  <a:schemeClr val="dk1"/>
                </a:solidFill>
                <a:latin typeface="Times New Roman"/>
              </a:defRPr>
            </a:lvl1pPr>
          </a:lstStyle>
          <a:p>
            <a:pPr marL="38160" indent="0">
              <a:lnSpc>
                <a:spcPts val="2721"/>
              </a:lnSpc>
              <a:buNone/>
              <a:tabLst>
                <a:tab algn="l" pos="0"/>
              </a:tabLst>
            </a:pPr>
            <a:fld id="{D1E942C2-09AB-4754-9B40-3F0709146389}" type="slidenum">
              <a:rPr b="0" lang="fr-FR" sz="2400" spc="-26" strike="noStrike">
                <a:solidFill>
                  <a:schemeClr val="dk1"/>
                </a:solidFill>
                <a:latin typeface="Times New Roman"/>
              </a:rPr>
              <a:t>&lt;numéro&gt;</a:t>
            </a:fld>
            <a:endParaRPr b="0" lang="fr-FR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4494600"/>
          </a:xfrm>
          <a:prstGeom prst="rect">
            <a:avLst/>
          </a:prstGeom>
          <a:noFill/>
          <a:ln w="0">
            <a:noFill/>
          </a:ln>
        </p:spPr>
        <p:txBody>
          <a:bodyPr lIns="0" rIns="0" tIns="205200" bIns="0" anchor="t">
            <a:noAutofit/>
          </a:bodyPr>
          <a:p>
            <a:pPr marL="346680" indent="-335160">
              <a:lnSpc>
                <a:spcPts val="3010"/>
              </a:lnSpc>
              <a:spcBef>
                <a:spcPts val="289"/>
              </a:spcBef>
              <a:buNone/>
              <a:tabLst>
                <a:tab algn="l" pos="0"/>
              </a:tabLst>
            </a:pPr>
            <a:r>
              <a:rPr b="0" lang="fr-FR" sz="2600" spc="29" strike="noStrike">
                <a:solidFill>
                  <a:srgbClr val="000000"/>
                </a:solidFill>
                <a:latin typeface="Arial"/>
              </a:rPr>
              <a:t>La</a:t>
            </a:r>
            <a:r>
              <a:rPr b="0" lang="fr-FR" sz="26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40" strike="noStrike">
                <a:solidFill>
                  <a:srgbClr val="000000"/>
                </a:solidFill>
                <a:latin typeface="Arial"/>
              </a:rPr>
              <a:t>vérification</a:t>
            </a:r>
            <a:r>
              <a:rPr b="0" lang="fr-FR" sz="260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06" strike="noStrike">
                <a:solidFill>
                  <a:srgbClr val="000000"/>
                </a:solidFill>
                <a:latin typeface="Arial"/>
              </a:rPr>
              <a:t>des</a:t>
            </a:r>
            <a:r>
              <a:rPr b="0" lang="fr-FR" sz="26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20" strike="noStrike">
                <a:solidFill>
                  <a:srgbClr val="000000"/>
                </a:solidFill>
                <a:latin typeface="Arial"/>
              </a:rPr>
              <a:t>permissions</a:t>
            </a:r>
            <a:r>
              <a:rPr b="0" lang="fr-FR" sz="2600" spc="9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80" strike="noStrike">
                <a:solidFill>
                  <a:srgbClr val="000000"/>
                </a:solidFill>
                <a:latin typeface="Arial"/>
              </a:rPr>
              <a:t>doit</a:t>
            </a:r>
            <a:r>
              <a:rPr b="0" lang="fr-FR" sz="26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31" strike="noStrike">
                <a:solidFill>
                  <a:srgbClr val="000000"/>
                </a:solidFill>
                <a:latin typeface="Arial"/>
              </a:rPr>
              <a:t>être </a:t>
            </a:r>
            <a:r>
              <a:rPr b="0" lang="fr-FR" sz="2600" spc="180" strike="noStrike">
                <a:solidFill>
                  <a:srgbClr val="000000"/>
                </a:solidFill>
                <a:latin typeface="Arial"/>
              </a:rPr>
              <a:t>implémentée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746640" indent="-278280">
              <a:lnSpc>
                <a:spcPts val="2781"/>
              </a:lnSpc>
              <a:spcBef>
                <a:spcPts val="1414"/>
              </a:spcBef>
              <a:buNone/>
              <a:tabLst>
                <a:tab algn="l" pos="0"/>
              </a:tabLst>
            </a:pP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Au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niveau</a:t>
            </a:r>
            <a:r>
              <a:rPr b="0" lang="fr-FR" sz="240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2400" spc="219" strike="noStrike">
                <a:solidFill>
                  <a:srgbClr val="00007f"/>
                </a:solidFill>
                <a:latin typeface="Gill Sans MT"/>
              </a:rPr>
              <a:t>présentation</a:t>
            </a:r>
            <a:r>
              <a:rPr b="1" lang="fr-FR" sz="2400" spc="191" strike="noStrike">
                <a:solidFill>
                  <a:srgbClr val="00007f"/>
                </a:solidFill>
                <a:latin typeface="Gill Sans MT"/>
              </a:rPr>
              <a:t> </a:t>
            </a:r>
            <a:r>
              <a:rPr b="0" lang="fr-FR" sz="2400" spc="120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66" strike="noStrike">
                <a:solidFill>
                  <a:srgbClr val="000000"/>
                </a:solidFill>
                <a:latin typeface="Arial"/>
              </a:rPr>
              <a:t>Ne</a:t>
            </a: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pas </a:t>
            </a:r>
            <a:r>
              <a:rPr b="0" lang="fr-FR" sz="2400" spc="120" strike="noStrike">
                <a:solidFill>
                  <a:srgbClr val="000000"/>
                </a:solidFill>
                <a:latin typeface="Arial"/>
              </a:rPr>
              <a:t>présenter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66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0" lang="fr-FR" sz="2400" spc="94" strike="noStrike">
                <a:solidFill>
                  <a:srgbClr val="000000"/>
                </a:solidFill>
                <a:latin typeface="Arial"/>
              </a:rPr>
              <a:t>liens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14" strike="noStrike">
                <a:solidFill>
                  <a:srgbClr val="000000"/>
                </a:solidFill>
                <a:latin typeface="Arial"/>
              </a:rPr>
              <a:t>ou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26" strike="noStrike">
                <a:solidFill>
                  <a:srgbClr val="000000"/>
                </a:solidFill>
                <a:latin typeface="Arial"/>
              </a:rPr>
              <a:t>boutons</a:t>
            </a: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26" strike="noStrike">
                <a:solidFill>
                  <a:srgbClr val="000000"/>
                </a:solidFill>
                <a:latin typeface="Arial"/>
              </a:rPr>
              <a:t>non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94" strike="noStrike">
                <a:solidFill>
                  <a:srgbClr val="000000"/>
                </a:solidFill>
                <a:latin typeface="Arial"/>
              </a:rPr>
              <a:t>autorisés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746640" indent="-278280">
              <a:lnSpc>
                <a:spcPts val="2781"/>
              </a:lnSpc>
              <a:spcBef>
                <a:spcPts val="1131"/>
              </a:spcBef>
              <a:buNone/>
              <a:tabLst>
                <a:tab algn="l" pos="0"/>
              </a:tabLst>
            </a:pP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Au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niveau</a:t>
            </a:r>
            <a:r>
              <a:rPr b="0" lang="fr-FR" sz="240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2400" spc="231" strike="noStrike">
                <a:solidFill>
                  <a:srgbClr val="00007f"/>
                </a:solidFill>
                <a:latin typeface="Gill Sans MT"/>
              </a:rPr>
              <a:t>service</a:t>
            </a:r>
            <a:r>
              <a:rPr b="1" lang="fr-FR" sz="2400" spc="180" strike="noStrike">
                <a:solidFill>
                  <a:srgbClr val="00007f"/>
                </a:solidFill>
                <a:latin typeface="Gill Sans MT"/>
              </a:rPr>
              <a:t> </a:t>
            </a:r>
            <a:r>
              <a:rPr b="0" lang="fr-FR" sz="2400" spc="120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Vérifier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4" strike="noStrike">
                <a:solidFill>
                  <a:srgbClr val="000000"/>
                </a:solidFill>
                <a:latin typeface="Arial"/>
              </a:rPr>
              <a:t>que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l'utilisateur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94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le </a:t>
            </a:r>
            <a:r>
              <a:rPr b="0" lang="fr-FR" sz="2400" spc="134" strike="noStrike">
                <a:solidFill>
                  <a:srgbClr val="000000"/>
                </a:solidFill>
                <a:latin typeface="Arial"/>
              </a:rPr>
              <a:t>droit</a:t>
            </a:r>
            <a:r>
              <a:rPr b="0" lang="fr-FR" sz="2400" spc="7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4" strike="noStrike">
                <a:solidFill>
                  <a:srgbClr val="000000"/>
                </a:solidFill>
                <a:latin typeface="Arial"/>
              </a:rPr>
              <a:t>d'effectuer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telle</a:t>
            </a: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opération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06" strike="noStrike">
                <a:solidFill>
                  <a:srgbClr val="000000"/>
                </a:solidFill>
                <a:latin typeface="Arial"/>
              </a:rPr>
              <a:t>sur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00" strike="noStrike">
                <a:solidFill>
                  <a:srgbClr val="000000"/>
                </a:solidFill>
                <a:latin typeface="Arial"/>
              </a:rPr>
              <a:t>la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72" strike="noStrike">
                <a:solidFill>
                  <a:srgbClr val="000000"/>
                </a:solidFill>
                <a:latin typeface="Arial"/>
              </a:rPr>
              <a:t>base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746640" indent="-278280">
              <a:lnSpc>
                <a:spcPts val="2769"/>
              </a:lnSpc>
              <a:spcBef>
                <a:spcPts val="1151"/>
              </a:spcBef>
              <a:buNone/>
              <a:tabLst>
                <a:tab algn="l" pos="0"/>
              </a:tabLst>
            </a:pPr>
            <a:r>
              <a:rPr b="0" lang="fr-FR" sz="2400" spc="576" strike="noStrike">
                <a:solidFill>
                  <a:srgbClr val="000000"/>
                </a:solidFill>
                <a:latin typeface="Arial"/>
              </a:rPr>
              <a:t>=&gt;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06" strike="noStrike">
                <a:solidFill>
                  <a:srgbClr val="000000"/>
                </a:solidFill>
                <a:latin typeface="Arial"/>
              </a:rPr>
              <a:t>Aucun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06" strike="noStrike">
                <a:solidFill>
                  <a:srgbClr val="000000"/>
                </a:solidFill>
                <a:latin typeface="Arial"/>
              </a:rPr>
              <a:t>code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n'est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nécessaire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20" strike="noStrike">
                <a:solidFill>
                  <a:srgbClr val="000000"/>
                </a:solidFill>
                <a:latin typeface="Arial"/>
              </a:rPr>
              <a:t>au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niveau</a:t>
            </a:r>
            <a:r>
              <a:rPr b="0" lang="fr-FR" sz="24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portlet, </a:t>
            </a:r>
            <a:r>
              <a:rPr b="0" lang="fr-FR" sz="2400" spc="106" strike="noStrike">
                <a:solidFill>
                  <a:srgbClr val="000000"/>
                </a:solidFill>
                <a:latin typeface="Arial"/>
              </a:rPr>
              <a:t>Liferay</a:t>
            </a: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80" strike="noStrike">
                <a:solidFill>
                  <a:srgbClr val="000000"/>
                </a:solidFill>
                <a:latin typeface="Arial"/>
              </a:rPr>
              <a:t>automatiquement</a:t>
            </a: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131" strike="noStrike">
                <a:solidFill>
                  <a:srgbClr val="000000"/>
                </a:solidFill>
                <a:latin typeface="Arial"/>
              </a:rPr>
              <a:t>effectue</a:t>
            </a:r>
            <a:r>
              <a:rPr b="0" lang="fr-FR" sz="2400" spc="8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75" strike="noStrike">
                <a:solidFill>
                  <a:srgbClr val="000000"/>
                </a:solidFill>
                <a:latin typeface="Arial"/>
              </a:rPr>
              <a:t>les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400" spc="94" strike="noStrike">
                <a:solidFill>
                  <a:srgbClr val="000000"/>
                </a:solidFill>
                <a:latin typeface="Arial"/>
              </a:rPr>
              <a:t>contrôles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11520" indent="0">
              <a:lnSpc>
                <a:spcPts val="3016"/>
              </a:lnSpc>
              <a:spcBef>
                <a:spcPts val="955"/>
              </a:spcBef>
              <a:buNone/>
              <a:tabLst>
                <a:tab algn="l" pos="0"/>
              </a:tabLst>
            </a:pP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1090800" y="508320"/>
            <a:ext cx="85082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Vérification dans les Portlets (UI &amp; Contrôleur)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 lnSpcReduction="10000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Côté Contrôleur (Java) : Liferay effectue des contrôles automatiques pour l'accès général, mais le développeur peut affiner la logique en utilisant le PermissionChecker.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Côté Vue (JSP) : Utilisation des tags de sécurité pour masquer les éléments :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&lt;c:if test="&lt;%= _eventModelResourcePermission.contains(permissionChecker, event, ActionKeys.UPDATE) %&gt;"&gt;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&lt;button&gt;Modifier&lt;/button&gt;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Courier New"/>
              </a:rPr>
              <a:t>&lt;/c:if&gt;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i="1" lang="fr-FR" sz="3200" spc="-1" strike="noStrike">
                <a:solidFill>
                  <a:srgbClr val="1e31c9"/>
                </a:solidFill>
                <a:latin typeface="Arial"/>
              </a:rPr>
              <a:t>&lt;liferay-security:permissionsURL&gt;</a:t>
            </a:r>
            <a:r>
              <a:rPr b="1" lang="fr-FR" sz="3200" spc="-1" strike="noStrike">
                <a:solidFill>
                  <a:srgbClr val="1e31c9"/>
                </a:solidFill>
                <a:latin typeface="Arial"/>
              </a:rPr>
              <a:t> 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pour offrir un lien direct vers l'interface de gestion des droits d'une entité précise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Vérification des permissions dans un service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6680" indent="-335160">
              <a:lnSpc>
                <a:spcPts val="3010"/>
              </a:lnSpc>
              <a:spcBef>
                <a:spcPts val="289"/>
              </a:spcBef>
              <a:buNone/>
              <a:tabLst>
                <a:tab algn="l" pos="0"/>
              </a:tabLst>
            </a:pPr>
            <a:r>
              <a:rPr b="0" lang="fr-FR" sz="2600" spc="29" strike="noStrike">
                <a:solidFill>
                  <a:srgbClr val="000000"/>
                </a:solidFill>
                <a:latin typeface="Arial"/>
              </a:rPr>
              <a:t>La</a:t>
            </a:r>
            <a:r>
              <a:rPr b="0" lang="fr-FR" sz="26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40" strike="noStrike">
                <a:solidFill>
                  <a:srgbClr val="000000"/>
                </a:solidFill>
                <a:latin typeface="Arial"/>
              </a:rPr>
              <a:t>vérification</a:t>
            </a:r>
            <a:r>
              <a:rPr b="0" lang="fr-FR" sz="260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06" strike="noStrike">
                <a:solidFill>
                  <a:srgbClr val="000000"/>
                </a:solidFill>
                <a:latin typeface="Arial"/>
              </a:rPr>
              <a:t>des</a:t>
            </a:r>
            <a:r>
              <a:rPr b="0" lang="fr-FR" sz="2600" spc="8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20" strike="noStrike">
                <a:solidFill>
                  <a:srgbClr val="000000"/>
                </a:solidFill>
                <a:latin typeface="Arial"/>
              </a:rPr>
              <a:t>permissions</a:t>
            </a:r>
            <a:r>
              <a:rPr b="0" lang="fr-FR" sz="2600" spc="9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80" strike="noStrike">
                <a:solidFill>
                  <a:srgbClr val="000000"/>
                </a:solidFill>
                <a:latin typeface="Arial"/>
              </a:rPr>
              <a:t>au </a:t>
            </a:r>
            <a:r>
              <a:rPr b="0" lang="fr-FR" sz="2400" spc="89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600" spc="131" strike="noStrike">
                <a:solidFill>
                  <a:srgbClr val="000000"/>
                </a:solidFill>
                <a:latin typeface="Arial"/>
              </a:rPr>
              <a:t>niveau</a:t>
            </a:r>
            <a:r>
              <a:rPr b="0" lang="fr-FR" sz="2600" spc="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2600" spc="231" strike="noStrike">
                <a:solidFill>
                  <a:srgbClr val="00007f"/>
                </a:solidFill>
                <a:latin typeface="Gill Sans MT"/>
              </a:rPr>
              <a:t>service</a:t>
            </a:r>
            <a:r>
              <a:rPr b="1" lang="fr-FR" sz="2600" spc="180" strike="noStrike">
                <a:solidFill>
                  <a:srgbClr val="00007f"/>
                </a:solidFill>
                <a:latin typeface="Gill Sans MT"/>
              </a:rPr>
              <a:t> </a:t>
            </a:r>
            <a:r>
              <a:rPr b="0" lang="fr-FR" sz="2600" spc="120" strike="noStrike">
                <a:solidFill>
                  <a:srgbClr val="000000"/>
                </a:solidFill>
                <a:latin typeface="Arial"/>
              </a:rPr>
              <a:t>consiste à vérifier que l’utilisateur a les permissions pour l’action demandée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34668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_modelResourcePermission.check(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4668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permissionChecker, eventId, ActionKeys.UPDATE);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4668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346680" indent="-335160">
              <a:lnSpc>
                <a:spcPts val="3010"/>
              </a:lnSpc>
              <a:spcBef>
                <a:spcPts val="289"/>
              </a:spcBef>
              <a:buNone/>
              <a:tabLst>
                <a:tab algn="l" pos="0"/>
              </a:tabLst>
            </a:pPr>
            <a:r>
              <a:rPr b="0" lang="fr-FR" sz="2600" spc="120" strike="noStrike">
                <a:solidFill>
                  <a:srgbClr val="000000"/>
                </a:solidFill>
                <a:latin typeface="Arial"/>
              </a:rPr>
              <a:t>L’instance </a:t>
            </a:r>
            <a:r>
              <a:rPr b="0" i="1" lang="fr-FR" sz="2600" spc="120" strike="noStrike">
                <a:solidFill>
                  <a:srgbClr val="000000"/>
                </a:solidFill>
                <a:latin typeface="Arial"/>
              </a:rPr>
              <a:t>_modelResourcePermission</a:t>
            </a:r>
            <a:r>
              <a:rPr b="0" lang="fr-FR" sz="2600" spc="120" strike="noStrike">
                <a:solidFill>
                  <a:srgbClr val="000000"/>
                </a:solidFill>
                <a:latin typeface="Arial"/>
              </a:rPr>
              <a:t> est injecté 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748080" indent="0">
              <a:lnSpc>
                <a:spcPts val="2154"/>
              </a:lnSpc>
              <a:buNone/>
              <a:tabLst>
                <a:tab algn="l" pos="0"/>
              </a:tabLst>
            </a:pPr>
            <a:r>
              <a:rPr b="0" i="1" lang="fr-FR" sz="1850" spc="41" strike="noStrike">
                <a:solidFill>
                  <a:srgbClr val="000000"/>
                </a:solidFill>
                <a:latin typeface="Arial"/>
              </a:rPr>
              <a:t>@Reference private ModelResourcePermission&lt;Event&gt; _eventModelResourcePermission;</a:t>
            </a:r>
            <a:endParaRPr b="0" lang="fr-FR" sz="1850" spc="-1" strike="noStrike">
              <a:solidFill>
                <a:srgbClr val="000000"/>
              </a:solidFill>
              <a:latin typeface="Arial"/>
            </a:endParaRPr>
          </a:p>
          <a:p>
            <a:pPr marL="346680" indent="-335160">
              <a:lnSpc>
                <a:spcPts val="3010"/>
              </a:lnSpc>
              <a:spcBef>
                <a:spcPts val="289"/>
              </a:spcBef>
              <a:buNone/>
              <a:tabLst>
                <a:tab algn="l" pos="0"/>
              </a:tabLst>
            </a:pP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346680" indent="-335160">
              <a:lnSpc>
                <a:spcPts val="3010"/>
              </a:lnSpc>
              <a:spcBef>
                <a:spcPts val="289"/>
              </a:spcBef>
              <a:buNone/>
              <a:tabLst>
                <a:tab algn="l" pos="0"/>
              </a:tabLst>
            </a:pPr>
            <a:r>
              <a:rPr b="0" lang="fr-FR" sz="2600" spc="120" strike="noStrike">
                <a:solidFill>
                  <a:srgbClr val="000000"/>
                </a:solidFill>
                <a:latin typeface="Arial"/>
              </a:rPr>
              <a:t>L’instance permissionChecker s’obtient via :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748080" indent="0">
              <a:lnSpc>
                <a:spcPts val="2154"/>
              </a:lnSpc>
              <a:buNone/>
              <a:tabLst>
                <a:tab algn="l" pos="0"/>
              </a:tabLst>
            </a:pPr>
            <a:r>
              <a:rPr b="0" i="1" lang="fr-FR" sz="1850" spc="41" strike="noStrike">
                <a:solidFill>
                  <a:srgbClr val="000000"/>
                </a:solidFill>
                <a:latin typeface="Arial"/>
              </a:rPr>
              <a:t>PermissionChecker permissionChecker = PermissionThreadLocal.getPermissionChecker();</a:t>
            </a:r>
            <a:endParaRPr b="0" lang="fr-FR" sz="1850" spc="-1" strike="noStrike">
              <a:solidFill>
                <a:srgbClr val="000000"/>
              </a:solidFill>
              <a:latin typeface="Arial"/>
            </a:endParaRPr>
          </a:p>
          <a:p>
            <a:pPr marL="748080" indent="0">
              <a:lnSpc>
                <a:spcPts val="2154"/>
              </a:lnSpc>
              <a:buNone/>
              <a:tabLst>
                <a:tab algn="l" pos="0"/>
              </a:tabLst>
            </a:pPr>
            <a:endParaRPr b="0" lang="fr-FR" sz="1850" spc="-1" strike="noStrike">
              <a:solidFill>
                <a:srgbClr val="000000"/>
              </a:solidFill>
              <a:latin typeface="Arial"/>
            </a:endParaRPr>
          </a:p>
          <a:p>
            <a:pPr marL="748080" indent="0">
              <a:lnSpc>
                <a:spcPts val="2154"/>
              </a:lnSpc>
              <a:buNone/>
              <a:tabLst>
                <a:tab algn="l" pos="0"/>
              </a:tabLst>
            </a:pPr>
            <a:endParaRPr b="0" lang="fr-FR" sz="1850" spc="-1" strike="noStrike">
              <a:solidFill>
                <a:srgbClr val="000000"/>
              </a:solidFill>
              <a:latin typeface="Arial"/>
            </a:endParaRPr>
          </a:p>
          <a:p>
            <a:pPr marL="74808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1090800" y="508320"/>
            <a:ext cx="850824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Sauvegarde d’une permission pour une entité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Lors de la création d’une entité, il faut également sauvegarder les permissions associées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Il faut utiliser l’attribut hérité </a:t>
            </a:r>
            <a:r>
              <a:rPr b="0" i="1" lang="fr-FR" sz="3200" spc="-1" strike="noStrike">
                <a:solidFill>
                  <a:srgbClr val="000000"/>
                </a:solidFill>
                <a:latin typeface="Arial"/>
              </a:rPr>
              <a:t>resourceLocalService</a:t>
            </a: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et appeler :</a:t>
            </a:r>
            <a:br>
              <a:rPr sz="3200"/>
            </a:b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2000" spc="-1" strike="noStrike">
                <a:solidFill>
                  <a:srgbClr val="1e31c9"/>
                </a:solidFill>
                <a:latin typeface="Courier New"/>
                <a:ea typeface="JetBrains Mono"/>
              </a:rPr>
              <a:t>resourceLocalService.addModelResources(event, sc);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Exemple : Contrôle de permission dans un contrôleur Rest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@Component(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properties = "OSGI-INF/liferay/rest/v1_0/events.properties",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service = EventsResource.class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public class EventsResourceImpl extends BaseEventsResourceImpl 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@Reference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private ModelResourcePermission&lt;Event&gt; _eventModelResourcePermission;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@Override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public Event getEvent(Long eventId) throws Exception {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// Vérification permission VIEW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_eventModelResourcePermission.check(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getPermissionChecker(), eventId, ActionKeys.VIEW);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return _eventLocalService.getEvent(eventId);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"/>
          <p:cNvSpPr/>
          <p:nvPr/>
        </p:nvSpPr>
        <p:spPr>
          <a:xfrm>
            <a:off x="582480" y="6840000"/>
            <a:ext cx="325944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13 : Permissions et ServiceContext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OAuth2 dans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Liferay embarque un serveur OAuth2 complet conforme à la norme.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On l’active à partir du Control Panel :</a:t>
            </a:r>
            <a:br>
              <a:rPr sz="2100"/>
            </a:br>
            <a:r>
              <a:rPr b="1" i="1" lang="fr-FR" sz="2100" spc="-1" strike="noStrike">
                <a:solidFill>
                  <a:srgbClr val="c9211e"/>
                </a:solidFill>
                <a:latin typeface="Calibri"/>
              </a:rPr>
              <a:t>Applications → OAuth2 Administration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Dans Liferay, OAuth2 sert à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Autoriser l’accès à des API REST Builder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Délivrer des jetons d’accès aux utilisateurs ou aux applications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Protéger les endpoints grâce aux scopes et aux permissions du modèle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240" cy="69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3 cas d’usage OAuth2 typiques sur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360" cy="513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Application Java/Backend → Liferay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Utilise Client Credentials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Obtenir un token → appeler API REST Builder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Remote App React → Liferay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Utilise Authorization Code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L’utilisateur s’authentifie → Liferay renvoie le token → la Remote App appelle l’API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Un utilisateur authentifié → App externe → Liferay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OAuth2 Authorization Code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Permet un “Connexion via Liferay” / SSO API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subTitle"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Mise en place IDE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Développement Portlet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Service Builder + REST Builder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Sécurité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REST Builder et Client Extensions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r>
              <a:rPr b="1" lang="fr-FR" sz="3200" spc="-1" strike="noStrike">
                <a:solidFill>
                  <a:srgbClr val="1511ac"/>
                </a:solidFill>
                <a:latin typeface="Arial"/>
              </a:rPr>
              <a:t>Extensions : Asset, Thèmes,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Asset Framework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Permet d’ajouter à tout contenu :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Tags</a:t>
            </a: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Catégories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Commentaires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Notes / Ratings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Relations entre contenus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Workflow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Diffusion via Asset Publisher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200" spc="-1" strike="noStrike">
                <a:solidFill>
                  <a:srgbClr val="000000"/>
                </a:solidFill>
                <a:latin typeface="Calibri"/>
              </a:rPr>
              <a:t>Support toujours 100% opérationnel en 7.4.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Intégration Asset pour une entité custom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Ajouter AssetEntry lors de la création / mise à jour d’un modèle.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Utiliser les services OSGi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@Reference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1" lang="fr-FR" sz="1800" spc="-1" strike="noStrike">
                <a:solidFill>
                  <a:srgbClr val="1a2fad"/>
                </a:solidFill>
                <a:latin typeface="Courier New"/>
              </a:rPr>
              <a:t>private AssetEntryLocalService assetEntryLocalService;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assetEntryLocalService.updateEntry(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userId, groupId,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Event.class.getName(), eventId,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categoryIds, tagNames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);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Permet la publication via les widgets standard Liferay.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Composants UI associés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Options disponibles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Taglibs héritées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&lt;liferay-ui:asset-tags-selector&gt;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i="1" lang="fr-FR" sz="2000" spc="-1" strike="noStrike">
                <a:solidFill>
                  <a:srgbClr val="000000"/>
                </a:solidFill>
                <a:latin typeface="Calibri"/>
              </a:rPr>
              <a:t>&lt;liferay-ui:asset-categories-selector&gt;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Composants modernes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Clay React (sélecteurs de tags/categories)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Asset Publisher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Tri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Filtrage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Gabarits d’affichage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584640" y="6844320"/>
            <a:ext cx="3259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14.1 : Asset framework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Thèmes Liferay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600" spc="-1" strike="noStrike">
                <a:solidFill>
                  <a:srgbClr val="000000"/>
                </a:solidFill>
                <a:latin typeface="Calibri"/>
              </a:rPr>
              <a:t>Les apports d’un thème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Uniformiser l’identité visuelle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Modifier gabarits de page / navigation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Adapter le responsive design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Ajouter des variables Clay / custom CSS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Intégration possible avec outils front modernes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Technologies pour les thèmes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SCSS / CSS moderne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Clay / Bootstrap 4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Freemarker ou JSP pour les templates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800" spc="-1" strike="noStrike">
                <a:solidFill>
                  <a:srgbClr val="000000"/>
                </a:solidFill>
                <a:latin typeface="Calibri"/>
              </a:rPr>
              <a:t>Customisation via :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portal_normal.ftl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navigation.ftl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i="1" lang="fr-FR" sz="2800" spc="-1" strike="noStrike">
                <a:solidFill>
                  <a:srgbClr val="000000"/>
                </a:solidFill>
                <a:latin typeface="Calibri"/>
              </a:rPr>
              <a:t>init_custom.ftl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Structure d’un thème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src/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css/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_custom.scss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templates/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portal_normal.ftl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navigation.ftl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images/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134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ourier New"/>
              </a:rPr>
              <a:t>liferay-look-and-feel.xml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Recommandations :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Centraliser les styles dans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_custom.scss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Ne jamais surcharger directement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_unstyled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 ou </a:t>
            </a:r>
            <a:r>
              <a:rPr b="0" i="1" lang="fr-FR" sz="1800" spc="-1" strike="noStrike">
                <a:solidFill>
                  <a:srgbClr val="000000"/>
                </a:solidFill>
                <a:latin typeface="Calibri"/>
              </a:rPr>
              <a:t>_styled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Personnalisation visuelle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Utiliser variables SCSS Clay (couleurs, hauteurs, bordures…)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Ajouter vos propres règles CSS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Modifier la structure via Freemarker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Ajouter des fragments de thème (header/footer)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600" spc="-1" strike="noStrike">
                <a:solidFill>
                  <a:srgbClr val="000000"/>
                </a:solidFill>
                <a:latin typeface="Calibri"/>
              </a:rPr>
              <a:t>Support complet du responsive via Bootstrap 4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"/>
          <p:cNvSpPr/>
          <p:nvPr/>
        </p:nvSpPr>
        <p:spPr>
          <a:xfrm>
            <a:off x="1177560" y="6848640"/>
            <a:ext cx="3259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14.2 : Thème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OSGi vs Hooks et Ext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Hooks &amp; EXT (Liferay 6.x / 6.2) :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Lourds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Fragiles aux mises à jour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Couplage fort au portail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Compatibilité réduite en 7.x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Modernisation :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Modules OSGi légers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Déploiement dynamique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Overrides ciblés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500" spc="-1" strike="noStrike">
                <a:solidFill>
                  <a:srgbClr val="000000"/>
                </a:solidFill>
                <a:latin typeface="Calibri"/>
              </a:rPr>
              <a:t>stable, maintenable, recommandé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OSGi : les 4 mécanismes de personnalisation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Fragment Modules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Override de JSP / ressources statiques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Service Wrappers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Surcharge de la logique des services Liferay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Model Listeners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Réagir aux événements CRUD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Configuration Admin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→ </a:t>
            </a:r>
            <a:r>
              <a:rPr b="0" lang="fr-FR" sz="1800" spc="-1" strike="noStrike">
                <a:solidFill>
                  <a:srgbClr val="000000"/>
                </a:solidFill>
                <a:latin typeface="Calibri"/>
              </a:rPr>
              <a:t>Modifier le comportement via des fichiers .config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Fragment Modules (remplace JSP Hook)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Objectif : remplacer une JSP Liferay sans EXT.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Structure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ourier New"/>
              </a:rPr>
              <a:t>src/main/resources/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2100" spc="-1" strike="noStrike">
                <a:solidFill>
                  <a:srgbClr val="000000"/>
                </a:solidFill>
                <a:latin typeface="Courier New"/>
              </a:rPr>
              <a:t>META-INF/resources/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100" spc="-1" strike="noStrike">
                <a:solidFill>
                  <a:srgbClr val="000000"/>
                </a:solidFill>
                <a:latin typeface="Courier New"/>
              </a:rPr>
              <a:t>html/portal/login.jsp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Utilisation :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Modifier l’IHM native du portail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Injecter du HTML ou Clay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100" spc="-1" strike="noStrike">
                <a:solidFill>
                  <a:srgbClr val="000000"/>
                </a:solidFill>
                <a:latin typeface="Calibri"/>
              </a:rPr>
              <a:t>Corriger l’affichage d’un module natif</a:t>
            </a:r>
            <a:endParaRPr b="0" lang="fr-FR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Service Wrappers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513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Remplace </a:t>
            </a:r>
            <a:r>
              <a:rPr b="0" i="1" lang="fr-FR" sz="1600" spc="-1" strike="noStrike">
                <a:solidFill>
                  <a:srgbClr val="000000"/>
                </a:solidFill>
                <a:latin typeface="Calibri"/>
              </a:rPr>
              <a:t>UserLocalServiceWrapper</a:t>
            </a: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 des Hooks historiques.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@Component(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service = AopService.class,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property = "model.class.name=com.liferay.portal.kernel.model.User"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)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public class MyUserLocalServiceWrapper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extends UserLocalServiceWrapper {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@Override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public User addUser(...) {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// custom logic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return super.addUser(...);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Utilisation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Auditer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Ajouter des règles métier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Calibri"/>
              </a:rPr>
              <a:t>Étendre les services internes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title"/>
          </p:nvPr>
        </p:nvSpPr>
        <p:spPr>
          <a:xfrm>
            <a:off x="1090800" y="786960"/>
            <a:ext cx="8508600" cy="69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Model Listeners OSGi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PlaceHolder 2"/>
          <p:cNvSpPr>
            <a:spLocks noGrp="1"/>
          </p:cNvSpPr>
          <p:nvPr>
            <p:ph/>
          </p:nvPr>
        </p:nvSpPr>
        <p:spPr>
          <a:xfrm>
            <a:off x="1088280" y="2083320"/>
            <a:ext cx="8424720" cy="439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 lnSpcReduction="10000"/>
          </a:bodyPr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Écoute les événements d’un modèle (CRUD).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@Component(service = ModelListener.class)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public class EventListener extends BaseModelListener&lt;Event&gt; {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@Override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public void onAfterUpdate(Event event) {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        </a:t>
            </a: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// log, sync, external notification…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    </a:t>
            </a: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ourier New"/>
              </a:rPr>
              <a:t>}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Exemples d’usage :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Log métier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Notifications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Vérifications supplémentaires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67"/>
              </a:spcAft>
              <a:buNone/>
              <a:tabLst>
                <a:tab algn="l" pos="0"/>
              </a:tabLst>
            </a:pP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"/>
          <p:cNvSpPr/>
          <p:nvPr/>
        </p:nvSpPr>
        <p:spPr>
          <a:xfrm>
            <a:off x="1177560" y="6848640"/>
            <a:ext cx="325980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i="1" lang="fr-FR" sz="2400" spc="-1" strike="noStrike">
                <a:solidFill>
                  <a:srgbClr val="c9211e"/>
                </a:solidFill>
                <a:latin typeface="Arial"/>
                <a:ea typeface="DejaVu Sans"/>
              </a:rPr>
              <a:t>Atelier 15 : Personnalisation OSGI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5113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2025-12-01T14:11:26Z</dcterms:created>
  <dc:creator/>
  <dc:description/>
  <dc:language>fr-FR</dc:language>
  <cp:lastModifiedBy/>
  <cp:lastPrinted>2025-12-18T08:46:40Z</cp:lastPrinted>
  <dcterms:modified xsi:type="dcterms:W3CDTF">2025-12-18T08:47:05Z</dcterms:modified>
  <cp:revision>153</cp:revision>
  <dc:subject/>
  <dc:title>Développer un portail Java EE avec LifeRay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2016-03-25T00:00:00Z</vt:filetime>
  </property>
  <property fmtid="{D5CDD505-2E9C-101B-9397-08002B2CF9AE}" pid="3" name="Creator">
    <vt:lpwstr>Impress</vt:lpwstr>
  </property>
  <property fmtid="{D5CDD505-2E9C-101B-9397-08002B2CF9AE}" pid="4" name="LastSaved">
    <vt:filetime>2016-03-25T00:00:00Z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LibreOffice 4.2</vt:lpwstr>
  </property>
</Properties>
</file>